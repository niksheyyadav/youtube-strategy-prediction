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builds on Review 1. In Review 1 we cleaned the data and trained the model. Now we explain the predictions, measure uncertainty, add an AI Coach that runs on the laptop, and package everything so it runs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problem in one sentence, then list what is new. The rest of the deck follows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repeats each video once per trending day. Counting all 37,352 rows would over-weight videos that trended longer, so we keep each video once: 16,307 unique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steps from raw data to an online app. The important rule: likes and comments are never inputs, only part of the engagement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audited our own code and found three hidden mistakes. They are fixed and each has a regression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squared goes from 0.20 to 0.42 for views and from 0.38 to 0.64 for engagement. We also report the harder later-in-time test: 0.37 and 0.53.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importance by group. Remember these are associations learned from data, not proof of cause and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Shapley idea: share credit fairly by averaging over every order. With five groups it is exact. Category is the biggest bar, but it is about audience size, not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only claim an 80 percent range, we tested it on later videos: 79.7 and 80.9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changes the forecast only about 9 percent, so what you post matters more than when you post. All edits are associations, not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order: load an example, generate the forecast, read the Shapley chart, then show best time and title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hybrid design: rules decide what to improve, the AI only writes the wording, checkers test every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example from our own testing, which is why we never let the AI touch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is from the real model on our laptop (no graphics card), about 40 seconds. Notice the ML numbers on top, the re-scored titles, and the removed sentence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7B model for the RTX 5050 laptop is planned but untested because we do not have that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golden test is the key: it proves the AI layer cannot secretly change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online site a minute before the demo. The free server sleeps when idle.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limits out loud. Honest limits make the project more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ASSESSMENT — REVIEW 2 (UPDATED)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YouTube Analytics and Content Strategy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Studio: explainable forecasts, honest uncertainty and an on-device AI Coach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Upadhyay</a:t>
            </a:r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231302157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Nikshey Yadav</a:t>
            </a:r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231302221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Chauhan</a:t>
            </a:r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231302230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Gupta</a:t>
            </a:r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231302216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Singh Yadav</a:t>
            </a:r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231302221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What Is New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how a YouTube video will perform before it is published?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9514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metadata a creator already controls: title, tags, description, category, timing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4378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model findings into practical, explained content-strategy advice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11155680" cy="2377440"/>
          </a:xfrm>
          <a:prstGeom prst="roundRect">
            <a:avLst>
              <a:gd name="adj" fmla="val 3846"/>
            </a:avLst>
          </a:prstGeom>
          <a:solidFill>
            <a:srgbClr val="F2F5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SINCE REVIEW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Why this forecast: exact Shapley explanations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sure are we: tested 80% ranges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7731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time, Title lab and look-alike videos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47731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Coach: real on-device language model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3400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One-command setup for any laptop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53400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131 automated tests and an online version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VIDEOS AFTER DEDUP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37,352  →  </a:t>
            </a:r>
            <a:pPr indent="0" marL="0">
              <a:buNone/>
            </a:pPr>
            <a:r>
              <a:rPr lang="en-US" sz="66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16,307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346704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YouTube Video Statistics, Kaggle, India subset (2017-2018)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895344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video on one trending day, so the same video repeats; we keep the latest snapshot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7274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626864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only videos that already trended, so no failed-video comparison</a:t>
            </a:r>
            <a:endParaRPr lang="en-US" sz="1600" dirty="0"/>
          </a:p>
        </p:txBody>
      </p:sp>
      <p:pic>
        <p:nvPicPr>
          <p:cNvPr id="14" name="Image 0" descr="C:\youtube-strategy-prediction\deliverables\assets\diagrams\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137626"/>
            <a:ext cx="4389120" cy="267418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568" y="1737360"/>
            <a:ext cx="10596383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91032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480974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real script with automated tests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55046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54041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firewall: likes, dislikes and comments are outcomes only, never inputs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Targets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(30 inputs, known before publishing)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5798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packaging: length, digits, ?, !, capitals, emoji, how-to and urgency words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72491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count, length, multi-word share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2918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length, links, hashtags, call to action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59352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5876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day and hour in IST, weekend, circular hour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42569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(one-hot)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(outputs)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12280" y="22585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215798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1: views, log-transformed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12280" y="28072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70662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2: engagement rate = (likes + comments) / views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66560" y="365760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F2F5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749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fixes since Review 1: hashtags and www links were never counted, tag quote marks differed between training and live input, and category 29 showed as "Unknown". All fixed, tested and the model retrained.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4206240" cy="0"/>
          </a:xfrm>
          <a:prstGeom prst="line">
            <a:avLst/>
          </a:prstGeom>
          <a:noFill/>
          <a:ln w="15240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  →  </a:t>
            </a:r>
            <a:pPr indent="0" marL="0">
              <a:buNone/>
            </a:pPr>
            <a:r>
              <a:rPr lang="en-US" sz="54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R²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4206240" cy="0"/>
          </a:xfrm>
          <a:prstGeom prst="line">
            <a:avLst/>
          </a:prstGeom>
          <a:noFill/>
          <a:ln w="15240">
            <a:solidFill>
              <a:srgbClr val="0E9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947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  →  </a:t>
            </a:r>
            <a:pPr indent="0" marL="0">
              <a:buNone/>
            </a:pPr>
            <a:r>
              <a:rPr lang="en-US" sz="54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50749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regression to the final Random Forest (5-fold cross-validation). On later-in-time videos: 0.37 and 0.53.</a:t>
            </a:r>
            <a:endParaRPr lang="en-US" sz="1300" dirty="0"/>
          </a:p>
        </p:txBody>
      </p:sp>
      <p:pic>
        <p:nvPicPr>
          <p:cNvPr id="13" name="Image 0" descr="C:\youtube-strategy-prediction\deliverables\assets\diagrams\r2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18648"/>
            <a:ext cx="5760720" cy="32607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Pays Attention To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feature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50222"/>
            <a:ext cx="6400800" cy="32890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8928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71232" y="179222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packaging, description and tags are things a creator controls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223760" y="28072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1232" y="270662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matters a lot for audience size but cannot be changed once the content is decided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223760" y="38130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71232" y="371246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and engagement depend on partly different factors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EXPLAINABILITY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Forecast? Exact Shapley Values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shapley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90928"/>
            <a:ext cx="6766560" cy="33162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8928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45552" y="17922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groups of choices: title, tags, description, timing, category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8072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45552" y="27066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group's fair share, found by trying every order (only 32 combinations)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0" y="37216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add up exactly to forecast minus a typical video (tested)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98080" y="46360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45552" y="45354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title +32%, tags -13%, description -10%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UNCERTAINTY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Sure Are We? Tested 80% Ranges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conf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1921"/>
            <a:ext cx="7315200" cy="27226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20040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uploads, views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66928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uploads, engagement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18928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17922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from split-conformal prediction on out-of-fold errors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38160" y="27157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6151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was measured, not assumed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38160" y="34472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85632" y="334670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views forecast: x0.29 to x3.5 of the truth, wide because metadata is a moderate signal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DECISION 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Time, Title Lab and Look-alikes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best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62" y="1554480"/>
            <a:ext cx="5710955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2702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416966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time: the same draft forecast in all 168 weekly slots (IST)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9560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485546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lab: ~12 edits re-scored by the model and ranked, one-click Apply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5504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544982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Look-alikes: TF-IDF similar trending videos as a second opinion</a:t>
            </a:r>
            <a:endParaRPr lang="en-US" sz="1400" dirty="0"/>
          </a:p>
        </p:txBody>
      </p:sp>
      <p:pic>
        <p:nvPicPr>
          <p:cNvPr id="13" name="Image 1" descr="C:\youtube-strategy-prediction\deliverables\assets\screens\parts\title_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0128"/>
            <a:ext cx="5577840" cy="36207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THE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Studio in Action</a:t>
            </a:r>
            <a:endParaRPr lang="en-US" sz="3000" dirty="0"/>
          </a:p>
        </p:txBody>
      </p:sp>
      <p:pic>
        <p:nvPicPr>
          <p:cNvPr id="6" name="Image 0" descr="C:\youtube-strategy-prediction\deliverables\assets\screens\parts\forecast_inputs_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8484"/>
            <a:ext cx="5760720" cy="4446872"/>
          </a:xfrm>
          <a:prstGeom prst="rect">
            <a:avLst/>
          </a:prstGeom>
        </p:spPr>
      </p:pic>
      <p:pic>
        <p:nvPicPr>
          <p:cNvPr id="7" name="Image 1" descr="C:\youtube-strategy-prediction\deliverables\assets\screens\parts\forecast_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49095"/>
            <a:ext cx="5394960" cy="29656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AI COACH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On-device AI That Cannot Change the Numbers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ai_coach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284" y="1554480"/>
            <a:ext cx="8276953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1846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50840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owns every number; re-scores any title or tag the AI proposes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7332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563270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sees only numbered evidence facts (E1, E2, ...)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51846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48272" y="508406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laptop with Ollama: free, private, no API key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57332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48272" y="563270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chain: main AI, lite AI, rule-based advice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SAFETY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Hallucinations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halluc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12917"/>
            <a:ext cx="6035040" cy="2483526"/>
          </a:xfrm>
          <a:prstGeom prst="rect">
            <a:avLst/>
          </a:prstGeom>
        </p:spPr>
      </p:pic>
      <p:pic>
        <p:nvPicPr>
          <p:cNvPr id="7" name="Image 1" descr="C:\youtube-strategy-prediction\deliverables\assets\diagrams\hybrid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08003"/>
            <a:ext cx="5486400" cy="207039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932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96112" y="499262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case: the AI wrote 8.69% engagement; the ML model said 4.69%. The sentence was removed.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583680" y="427024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31152" y="416966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is tested alone: numbers, promises, links, title quality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583680" y="50932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31152" y="499262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survives the checks, we step down to the next model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REAL 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Coach Running the Real qwen2.5:3b Model</a:t>
            </a:r>
            <a:endParaRPr lang="en-US" sz="3000" dirty="0"/>
          </a:p>
        </p:txBody>
      </p:sp>
      <p:pic>
        <p:nvPicPr>
          <p:cNvPr id="6" name="Image 0" descr="C:\youtube-strategy-prediction\deliverables\assets\screens\parts\ai_coach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192" y="1508760"/>
            <a:ext cx="5287856" cy="4892040"/>
          </a:xfrm>
          <a:prstGeom prst="rect">
            <a:avLst/>
          </a:prstGeom>
        </p:spPr>
      </p:pic>
      <p:pic>
        <p:nvPicPr>
          <p:cNvPr id="7" name="Image 1" descr="C:\youtube-strategy-prediction\deliverables\assets\screens\parts\ai_coach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632" y="1508760"/>
            <a:ext cx="5287856" cy="4892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EVALUATION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Model Runs and Device-aware Choice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on 16 GB RAM, 16 threads, no NVIDIA GPU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943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91440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AI (qwen2.5:3b)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AI (qwen2.5:3b)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AI (qwen2.5:3b)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AI (qwen2.5:3b)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97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= model-written sentences discarded by the evidence checks.</a:t>
            </a:r>
            <a:endParaRPr lang="en-US" sz="1100" dirty="0"/>
          </a:p>
        </p:txBody>
      </p:sp>
      <p:pic>
        <p:nvPicPr>
          <p:cNvPr id="9" name="Image 0" descr="C:\youtube-strategy-prediction\deliverables\assets\diagrams\device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28205"/>
            <a:ext cx="5303520" cy="23615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0017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490118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detects RAM and NVIDIA GPU memory and picks the model size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55504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544982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5050 8 GB laptop: plans qwen2.5:7b (planned, not tested here); this CPU laptop: 3B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 Automated Tests and a One-command Launcher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30878"/>
            <a:ext cx="5669280" cy="31277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8928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56832" y="17922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test: forecasts for 7 drafts identical before and after the AI Coach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8072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27066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call the real local AI when it is available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36301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56832" y="352958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every test on each push; secret-scan test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45445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56832" y="444398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run.ps1 / run.sh: sets up, detects the device, installs Ollama, pulls the model, starts the app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Anywhere and Online</a:t>
            </a:r>
            <a:endParaRPr lang="en-US" sz="3000" dirty="0"/>
          </a:p>
        </p:txBody>
      </p:sp>
      <p:pic>
        <p:nvPicPr>
          <p:cNvPr id="6" name="Image 0" descr="C:\youtube-strategy-prediction\deliverables\assets\diagrams\run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128" y="1554480"/>
            <a:ext cx="6480384" cy="1920240"/>
          </a:xfrm>
          <a:prstGeom prst="rect">
            <a:avLst/>
          </a:prstGeom>
        </p:spPr>
      </p:pic>
      <p:pic>
        <p:nvPicPr>
          <p:cNvPr id="7" name="Image 1" descr="C:\youtube-strategy-prediction\deliverables\assets\diagrams\cold_st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7" y="3566160"/>
            <a:ext cx="6453726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0" y="189280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62672" y="179222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only Python 3.10+ and git; first run downloads Ollama and a model after asking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0" y="29900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62672" y="288950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cannot start, the app still works with rule-based advice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0" y="39044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62672" y="380390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youtube-strategy-predictor.onrender.com (rule-based mode)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0" y="481888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62672" y="471830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Keep-warm ping every 10 minutes to avoid the free-tier cold start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Honest Caveats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PRE-PUBLISH METADATA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7863840" cy="457200"/>
          </a:xfrm>
          <a:prstGeom prst="roundRect">
            <a:avLst>
              <a:gd name="adj" fmla="val 10000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5032858" cy="457200"/>
          </a:xfrm>
          <a:prstGeom prst="roundRect">
            <a:avLst>
              <a:gd name="adj" fmla="val 10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3302813" cy="4572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 (views) to 64% (engagement)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164592" cy="164592"/>
          </a:xfrm>
          <a:prstGeom prst="rect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42%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2606040"/>
            <a:ext cx="164592" cy="16459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5420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64%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7238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Thumbnails, channel reputation and YouTube's ranking are not in the data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69417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videos that already trended (India, 2017-2018): not a viral vs non-viral study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16552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31596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Shapley, keywords and edit rankings are associations, not causes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38344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37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laptop: AI answers take about 30 to 80 seconds; the 7B GPU path is untested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660136"/>
            <a:ext cx="182880" cy="1828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55955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site runs without the AI model (free tier is too small)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UNIVERSITY</a:t>
            </a:r>
            <a:pPr indent="0" marL="0">
              <a:buNone/>
            </a:pPr>
            <a:r>
              <a:rPr lang="en-US" sz="900" b="1" spc="1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DEPT. OF COMPUTER SCIENCE &amp; ENGINEERING, SOET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6492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Engineering, SOET — SGT University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22365E"/>
          </a:solidFill>
          <a:ln w="12700">
            <a:solidFill>
              <a:srgbClr val="2F4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 the RTX 5050 laptop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7B model with the 3B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22365E"/>
          </a:solidFill>
          <a:ln w="12700">
            <a:solidFill>
              <a:srgbClr val="2F4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Thumbnail and channel features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missing strong signals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22365E"/>
          </a:solidFill>
          <a:ln w="12700">
            <a:solidFill>
              <a:srgbClr val="2F4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non-trending videos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22365E"/>
          </a:solidFill>
          <a:ln w="12700">
            <a:solidFill>
              <a:srgbClr val="2F4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study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advice is actually useful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SGT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YouTube Analytics and Content Strategy Prediction: Review 2</dc:title>
  <dc:subject>PptxGenJS Presentation</dc:subject>
  <dc:creator>PptxGenJS</dc:creator>
  <cp:lastModifiedBy>PptxGenJS</cp:lastModifiedBy>
  <cp:revision>1</cp:revision>
  <dcterms:created xsi:type="dcterms:W3CDTF">2026-10-26T18:29:30Z</dcterms:created>
  <dcterms:modified xsi:type="dcterms:W3CDTF">2026-10-26T18:29:30Z</dcterms:modified>
</cp:coreProperties>
</file>