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-1508760"/>
            <a:ext cx="4572000" cy="457200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27D7B5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0" y="-1051560"/>
            <a:ext cx="3383280" cy="338328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FF6D55">
                <a:alpha val="2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5" name="Text 3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146304" cy="4526280"/>
          </a:xfrm>
          <a:prstGeom prst="roundRect">
            <a:avLst>
              <a:gd name="adj" fmla="val 50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078992"/>
            <a:ext cx="6492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AI-Based YouTube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Analytics &amp; Content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Prediction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32688" y="3410712"/>
            <a:ext cx="608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pre-publication metadata help a creator make a better upload decision?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932688" y="4315968"/>
            <a:ext cx="5257800" cy="749808"/>
          </a:xfrm>
          <a:prstGeom prst="roundRect">
            <a:avLst>
              <a:gd name="adj" fmla="val 12195"/>
            </a:avLst>
          </a:prstGeom>
          <a:solidFill>
            <a:srgbClr val="12283A"/>
          </a:solidFill>
          <a:ln w="8890">
            <a:solidFill>
              <a:srgbClr val="2D52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70432" y="44805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TA4 FINAL EVALUATION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70432" y="468172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 • Explainability • Live demo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1188720"/>
            <a:ext cx="3246120" cy="4297680"/>
          </a:xfrm>
          <a:prstGeom prst="roundRect">
            <a:avLst>
              <a:gd name="adj" fmla="val 2817"/>
            </a:avLst>
          </a:prstGeom>
          <a:solidFill>
            <a:srgbClr val="12283A"/>
          </a:solidFill>
          <a:ln w="10160">
            <a:solidFill>
              <a:srgbClr val="315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93608" y="1508760"/>
            <a:ext cx="1261872" cy="438912"/>
          </a:xfrm>
          <a:prstGeom prst="roundRect">
            <a:avLst>
              <a:gd name="adj" fmla="val 25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3608" y="1627632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TITLE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573768" y="1728216"/>
            <a:ext cx="438912" cy="0"/>
          </a:xfrm>
          <a:prstGeom prst="line">
            <a:avLst/>
          </a:prstGeom>
          <a:noFill/>
          <a:ln w="15240">
            <a:solidFill>
              <a:srgbClr val="DCE7E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293608" y="2286000"/>
            <a:ext cx="1261872" cy="438912"/>
          </a:xfrm>
          <a:prstGeom prst="roundRect">
            <a:avLst>
              <a:gd name="adj" fmla="val 25000"/>
            </a:avLst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93608" y="2404872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TAGS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573768" y="2505456"/>
            <a:ext cx="438912" cy="0"/>
          </a:xfrm>
          <a:prstGeom prst="line">
            <a:avLst/>
          </a:prstGeom>
          <a:noFill/>
          <a:ln w="15240">
            <a:solidFill>
              <a:srgbClr val="DCE7E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293608" y="3063240"/>
            <a:ext cx="1261872" cy="438912"/>
          </a:xfrm>
          <a:prstGeom prst="roundRect">
            <a:avLst>
              <a:gd name="adj" fmla="val 25000"/>
            </a:avLst>
          </a:prstGeom>
          <a:solidFill>
            <a:srgbClr val="FF6D55"/>
          </a:solidFill>
          <a:ln w="12700">
            <a:solidFill>
              <a:srgbClr val="FF6D5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93608" y="3182112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TIMING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9573768" y="3282696"/>
            <a:ext cx="438912" cy="0"/>
          </a:xfrm>
          <a:prstGeom prst="line">
            <a:avLst/>
          </a:prstGeom>
          <a:noFill/>
          <a:ln w="15240">
            <a:solidFill>
              <a:srgbClr val="DCE7E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293608" y="3840480"/>
            <a:ext cx="1261872" cy="438912"/>
          </a:xfrm>
          <a:prstGeom prst="roundRect">
            <a:avLst>
              <a:gd name="adj" fmla="val 25000"/>
            </a:avLst>
          </a:prstGeom>
          <a:solidFill>
            <a:srgbClr val="3D7EFF"/>
          </a:solidFill>
          <a:ln w="12700">
            <a:solidFill>
              <a:srgbClr val="3D7E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93608" y="3959352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573768" y="4059936"/>
            <a:ext cx="438912" cy="0"/>
          </a:xfrm>
          <a:prstGeom prst="line">
            <a:avLst/>
          </a:prstGeom>
          <a:noFill/>
          <a:ln w="15240">
            <a:solidFill>
              <a:srgbClr val="DCE7E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195560" y="2395728"/>
            <a:ext cx="768096" cy="14813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87000" y="2724912"/>
            <a:ext cx="594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579608" y="3913632"/>
            <a:ext cx="0" cy="576072"/>
          </a:xfrm>
          <a:prstGeom prst="line">
            <a:avLst/>
          </a:prstGeom>
          <a:noFill/>
          <a:ln w="17145">
            <a:solidFill>
              <a:srgbClr val="27D7B5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275320" y="47091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3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views + engagement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honest limits</a:t>
            </a:r>
            <a:endParaRPr lang="en-US" sz="1030" dirty="0"/>
          </a:p>
        </p:txBody>
      </p:sp>
      <p:sp>
        <p:nvSpPr>
          <p:cNvPr id="29" name="Shape 27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3651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decision-support model for already trending videos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009F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3" name="Text 1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3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decision happens before the video goes live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527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Creators choose metadata first, then receive feedback only after the key distribution window has passed.</a:t>
            </a:r>
            <a:endParaRPr lang="en-US" sz="118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34564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2029968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0756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16736" y="201168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Creator-controlled choices</a:t>
            </a:r>
            <a:endParaRPr lang="en-US" sz="1420" dirty="0"/>
          </a:p>
        </p:txBody>
      </p:sp>
      <p:sp>
        <p:nvSpPr>
          <p:cNvPr id="10" name="Text 8"/>
          <p:cNvSpPr/>
          <p:nvPr/>
        </p:nvSpPr>
        <p:spPr>
          <a:xfrm>
            <a:off x="768096" y="2578608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Title, description, tags, category and publish time are known before upload.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70832" y="1828800"/>
            <a:ext cx="34564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2029968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20756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201168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task</a:t>
            </a:r>
            <a:endParaRPr lang="en-US" sz="1420" dirty="0"/>
          </a:p>
        </p:txBody>
      </p:sp>
      <p:sp>
        <p:nvSpPr>
          <p:cNvPr id="15" name="Text 13"/>
          <p:cNvSpPr/>
          <p:nvPr/>
        </p:nvSpPr>
        <p:spPr>
          <a:xfrm>
            <a:off x="4572000" y="2578608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 relative views and engagement from only those pre-publication signals.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74736" y="1828800"/>
            <a:ext cx="34564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029968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F6D55"/>
          </a:solidFill>
          <a:ln w="12700">
            <a:solidFill>
              <a:srgbClr val="FF6D5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75904" y="20756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924544" y="201168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Strategy output</a:t>
            </a:r>
            <a:endParaRPr lang="en-US" sz="1420" dirty="0"/>
          </a:p>
        </p:txBody>
      </p:sp>
      <p:sp>
        <p:nvSpPr>
          <p:cNvPr id="20" name="Text 18"/>
          <p:cNvSpPr/>
          <p:nvPr/>
        </p:nvSpPr>
        <p:spPr>
          <a:xfrm>
            <a:off x="8375904" y="2578608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Translate model patterns into a transparent checklist and a live draft comparison.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091420"/>
          </a:solidFill>
          <a:ln w="12700">
            <a:solidFill>
              <a:srgbClr val="091420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57200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claim we can defend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980944" y="4462272"/>
            <a:ext cx="8110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Among videos that already trended in India, metadata helps estimate relative performance. It does not tell us whether an arbitrary upload will become viral.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C9D8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 is explicit: decision support, not a viral/non-viral classifier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-1508760"/>
            <a:ext cx="4572000" cy="457200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27D7B5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0" y="-1051560"/>
            <a:ext cx="3383280" cy="338328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FF6D55">
                <a:alpha val="2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5" name="Text 3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 India dataset — cleaned at the video level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12527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Trending YouTube Video Statistics (Kaggle), India subset; each raw record is one daily trending snapshot.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21792" y="1901952"/>
            <a:ext cx="3337560" cy="3401568"/>
          </a:xfrm>
          <a:prstGeom prst="roundRect">
            <a:avLst>
              <a:gd name="adj" fmla="val 2740"/>
            </a:avLst>
          </a:prstGeom>
          <a:solidFill>
            <a:srgbClr val="12283A"/>
          </a:solidFill>
          <a:ln w="10160">
            <a:solidFill>
              <a:srgbClr val="2C566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2402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SNAPSHOTS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6112" y="258775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37,352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914400" y="3493008"/>
            <a:ext cx="2523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video can appear on the trending list on several days.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914400" y="4663440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FF6D55"/>
          </a:solidFill>
          <a:ln w="12700">
            <a:solidFill>
              <a:srgbClr val="FF6D55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16736" y="4663440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FF6D55"/>
          </a:solidFill>
          <a:ln w="12700">
            <a:solidFill>
              <a:srgbClr val="FF6D55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19072" y="4663440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FF6D55"/>
          </a:solidFill>
          <a:ln w="12700">
            <a:solidFill>
              <a:srgbClr val="FF6D55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21408" y="4663440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23744" y="4663440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33672" y="3474720"/>
            <a:ext cx="2770632" cy="0"/>
          </a:xfrm>
          <a:prstGeom prst="line">
            <a:avLst/>
          </a:prstGeom>
          <a:noFill/>
          <a:ln w="26670">
            <a:solidFill>
              <a:srgbClr val="27D7B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26280" y="2862072"/>
            <a:ext cx="2029968" cy="1115568"/>
          </a:xfrm>
          <a:prstGeom prst="roundRect">
            <a:avLst>
              <a:gd name="adj" fmla="val 8197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3145536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DE-DUPLICATE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VIDEO ID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65592" y="1901952"/>
            <a:ext cx="3401568" cy="3401568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58200" y="2240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09F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VIDEOS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439912" y="2587752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3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16,307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8458200" y="3493008"/>
            <a:ext cx="2615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Latest snapshot retained per video; no required-field rows were lost.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676656" y="57607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matters: avoids over-weighting videos simply because they trended longer.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3651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Date parsing precedes sorting so the retained record is truly the latest snapshot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009F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3" name="Text 1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3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reproducible AI/ML workflow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527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is a clear supervised-regression pipeline, from raw evidence to creator-facing guidance.</a:t>
            </a:r>
            <a:endParaRPr lang="en-US" sz="1180" dirty="0"/>
          </a:p>
        </p:txBody>
      </p:sp>
      <p:sp>
        <p:nvSpPr>
          <p:cNvPr id="6" name="Shape 4"/>
          <p:cNvSpPr/>
          <p:nvPr/>
        </p:nvSpPr>
        <p:spPr>
          <a:xfrm>
            <a:off x="594360" y="2130552"/>
            <a:ext cx="1883664" cy="2487168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359152"/>
            <a:ext cx="484632" cy="484632"/>
          </a:xfrm>
          <a:prstGeom prst="roundRect">
            <a:avLst>
              <a:gd name="adj" fmla="val 50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496312"/>
            <a:ext cx="484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04672" y="30906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04672" y="354787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 dates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Deduplicate</a:t>
            </a:r>
            <a:endParaRPr lang="en-US" sz="1160" dirty="0"/>
          </a:p>
        </p:txBody>
      </p:sp>
      <p:sp>
        <p:nvSpPr>
          <p:cNvPr id="11" name="Shape 9"/>
          <p:cNvSpPr/>
          <p:nvPr/>
        </p:nvSpPr>
        <p:spPr>
          <a:xfrm>
            <a:off x="2496312" y="3383280"/>
            <a:ext cx="356616" cy="0"/>
          </a:xfrm>
          <a:prstGeom prst="line">
            <a:avLst/>
          </a:prstGeom>
          <a:noFill/>
          <a:ln w="19050">
            <a:solidFill>
              <a:srgbClr val="009F9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98648" y="2130552"/>
            <a:ext cx="1883664" cy="2487168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08960" y="2359152"/>
            <a:ext cx="484632" cy="484632"/>
          </a:xfrm>
          <a:prstGeom prst="roundRect">
            <a:avLst>
              <a:gd name="adj" fmla="val 50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8960" y="2496312"/>
            <a:ext cx="484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108960" y="30906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108960" y="354787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Pre-publish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only</a:t>
            </a:r>
            <a:endParaRPr lang="en-US" sz="1160" dirty="0"/>
          </a:p>
        </p:txBody>
      </p:sp>
      <p:sp>
        <p:nvSpPr>
          <p:cNvPr id="17" name="Shape 15"/>
          <p:cNvSpPr/>
          <p:nvPr/>
        </p:nvSpPr>
        <p:spPr>
          <a:xfrm>
            <a:off x="4800600" y="3383280"/>
            <a:ext cx="356616" cy="0"/>
          </a:xfrm>
          <a:prstGeom prst="line">
            <a:avLst/>
          </a:prstGeom>
          <a:noFill/>
          <a:ln w="19050">
            <a:solidFill>
              <a:srgbClr val="009F9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202936" y="2130552"/>
            <a:ext cx="1883664" cy="2487168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13248" y="2359152"/>
            <a:ext cx="484632" cy="484632"/>
          </a:xfrm>
          <a:prstGeom prst="roundRect">
            <a:avLst>
              <a:gd name="adj" fmla="val 50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13248" y="2496312"/>
            <a:ext cx="484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413248" y="30906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413248" y="354787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Linear, RF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XGBoost</a:t>
            </a:r>
            <a:endParaRPr lang="en-US" sz="1160" dirty="0"/>
          </a:p>
        </p:txBody>
      </p:sp>
      <p:sp>
        <p:nvSpPr>
          <p:cNvPr id="23" name="Shape 21"/>
          <p:cNvSpPr/>
          <p:nvPr/>
        </p:nvSpPr>
        <p:spPr>
          <a:xfrm>
            <a:off x="7104888" y="3383280"/>
            <a:ext cx="356616" cy="0"/>
          </a:xfrm>
          <a:prstGeom prst="line">
            <a:avLst/>
          </a:prstGeom>
          <a:noFill/>
          <a:ln w="19050">
            <a:solidFill>
              <a:srgbClr val="009F9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507224" y="2130552"/>
            <a:ext cx="1883664" cy="2487168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717536" y="2359152"/>
            <a:ext cx="484632" cy="484632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17536" y="2496312"/>
            <a:ext cx="484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17536" y="30906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717536" y="354787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5-fold CV +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test</a:t>
            </a:r>
            <a:endParaRPr lang="en-US" sz="1160" dirty="0"/>
          </a:p>
        </p:txBody>
      </p:sp>
      <p:sp>
        <p:nvSpPr>
          <p:cNvPr id="29" name="Shape 27"/>
          <p:cNvSpPr/>
          <p:nvPr/>
        </p:nvSpPr>
        <p:spPr>
          <a:xfrm>
            <a:off x="9409176" y="3383280"/>
            <a:ext cx="356616" cy="0"/>
          </a:xfrm>
          <a:prstGeom prst="line">
            <a:avLst/>
          </a:prstGeom>
          <a:noFill/>
          <a:ln w="19050">
            <a:solidFill>
              <a:srgbClr val="009F93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811512" y="2130552"/>
            <a:ext cx="1883664" cy="2487168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021824" y="2359152"/>
            <a:ext cx="484632" cy="484632"/>
          </a:xfrm>
          <a:prstGeom prst="roundRect">
            <a:avLst>
              <a:gd name="adj" fmla="val 50000"/>
            </a:avLst>
          </a:prstGeom>
          <a:solidFill>
            <a:srgbClr val="FF6D55"/>
          </a:solidFill>
          <a:ln w="12700">
            <a:solidFill>
              <a:srgbClr val="FF6D55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21824" y="2496312"/>
            <a:ext cx="484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0021824" y="30906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0021824" y="354787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Importance +</a:t>
            </a:r>
            <a:endParaRPr lang="en-US" sz="1160" dirty="0"/>
          </a:p>
          <a:p>
            <a:pPr algn="l" indent="0" marL="0">
              <a:buNone/>
            </a:pPr>
            <a:r>
              <a:rPr lang="en-US" sz="116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strategy advice</a:t>
            </a:r>
            <a:endParaRPr lang="en-US" sz="1160" dirty="0"/>
          </a:p>
        </p:txBody>
      </p:sp>
      <p:sp>
        <p:nvSpPr>
          <p:cNvPr id="35" name="Shape 33"/>
          <p:cNvSpPr/>
          <p:nvPr/>
        </p:nvSpPr>
        <p:spPr>
          <a:xfrm>
            <a:off x="594360" y="5148072"/>
            <a:ext cx="10991088" cy="704088"/>
          </a:xfrm>
          <a:prstGeom prst="roundRect">
            <a:avLst>
              <a:gd name="adj" fmla="val 15584"/>
            </a:avLst>
          </a:prstGeom>
          <a:solidFill>
            <a:srgbClr val="091420"/>
          </a:solidFill>
          <a:ln w="12700">
            <a:solidFill>
              <a:srgbClr val="091420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5358384"/>
            <a:ext cx="10442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Leakage firewall: likes, dislikes and comment count are outcomes only — never inputs.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C9D8D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Scripts: clean.py → features.py → train.py → evaluate.py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009F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3" name="Text 1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3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 answers one question: what is known before publication?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527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 are transparent enough to explain in a viva and practical enough for a creator to change.</a:t>
            </a:r>
            <a:endParaRPr lang="en-US" sz="1180" dirty="0"/>
          </a:p>
        </p:txBody>
      </p:sp>
      <p:sp>
        <p:nvSpPr>
          <p:cNvPr id="6" name="Shape 4"/>
          <p:cNvSpPr/>
          <p:nvPr/>
        </p:nvSpPr>
        <p:spPr>
          <a:xfrm>
            <a:off x="640080" y="1847088"/>
            <a:ext cx="661111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47088"/>
            <a:ext cx="1417320" cy="777240"/>
          </a:xfrm>
          <a:prstGeom prst="roundRect">
            <a:avLst>
              <a:gd name="adj" fmla="val 11765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11226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PACKAGING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359152" y="208483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1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Title length • word count • number • question mark • capitals</a:t>
            </a:r>
            <a:endParaRPr lang="en-US" sz="1310" dirty="0"/>
          </a:p>
        </p:txBody>
      </p:sp>
      <p:sp>
        <p:nvSpPr>
          <p:cNvPr id="10" name="Shape 8"/>
          <p:cNvSpPr/>
          <p:nvPr/>
        </p:nvSpPr>
        <p:spPr>
          <a:xfrm>
            <a:off x="640080" y="2907792"/>
            <a:ext cx="661111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907792"/>
            <a:ext cx="1417320" cy="777240"/>
          </a:xfrm>
          <a:prstGeom prst="roundRect">
            <a:avLst>
              <a:gd name="adj" fmla="val 11765"/>
            </a:avLst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3172968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359152" y="3145536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1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Tag count • category • description length</a:t>
            </a:r>
            <a:endParaRPr lang="en-US" sz="1310" dirty="0"/>
          </a:p>
        </p:txBody>
      </p:sp>
      <p:sp>
        <p:nvSpPr>
          <p:cNvPr id="14" name="Shape 12"/>
          <p:cNvSpPr/>
          <p:nvPr/>
        </p:nvSpPr>
        <p:spPr>
          <a:xfrm>
            <a:off x="640080" y="3968496"/>
            <a:ext cx="661111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968496"/>
            <a:ext cx="1417320" cy="777240"/>
          </a:xfrm>
          <a:prstGeom prst="roundRect">
            <a:avLst>
              <a:gd name="adj" fmla="val 11765"/>
            </a:avLst>
          </a:prstGeom>
          <a:solidFill>
            <a:srgbClr val="FF6D55"/>
          </a:solidFill>
          <a:ln w="12700">
            <a:solidFill>
              <a:srgbClr val="FF6D55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4233672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359152" y="4206240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1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 day and hour, converted from UTC to IST</a:t>
            </a:r>
            <a:endParaRPr lang="en-US" sz="1310" dirty="0"/>
          </a:p>
        </p:txBody>
      </p:sp>
      <p:sp>
        <p:nvSpPr>
          <p:cNvPr id="18" name="Shape 16"/>
          <p:cNvSpPr/>
          <p:nvPr/>
        </p:nvSpPr>
        <p:spPr>
          <a:xfrm>
            <a:off x="7799832" y="1847088"/>
            <a:ext cx="3730752" cy="2926080"/>
          </a:xfrm>
          <a:prstGeom prst="roundRect">
            <a:avLst>
              <a:gd name="adj" fmla="val 3125"/>
            </a:avLst>
          </a:prstGeom>
          <a:solidFill>
            <a:srgbClr val="091420"/>
          </a:solidFill>
          <a:ln w="12700">
            <a:solidFill>
              <a:srgbClr val="091420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119872" y="221284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10" kern="0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119872" y="26060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0" y="26609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trained as log1p(views)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19872" y="3273552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Engagement rate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119872" y="3639312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(likes + comments) / views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83296" y="4087368"/>
            <a:ext cx="3154680" cy="393192"/>
          </a:xfrm>
          <a:prstGeom prst="roundRect">
            <a:avLst>
              <a:gd name="adj" fmla="val 18605"/>
            </a:avLst>
          </a:prstGeom>
          <a:solidFill>
            <a:srgbClr val="FF6D55"/>
          </a:solidFill>
          <a:ln w="12700">
            <a:solidFill>
              <a:srgbClr val="FF6D55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74736" y="4187952"/>
            <a:ext cx="2971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post-publication counts excluded from inputs</a:t>
            </a:r>
            <a:endParaRPr lang="en-US" sz="870" dirty="0"/>
          </a:p>
        </p:txBody>
      </p:sp>
      <p:sp>
        <p:nvSpPr>
          <p:cNvPr id="26" name="Shape 24"/>
          <p:cNvSpPr/>
          <p:nvPr/>
        </p:nvSpPr>
        <p:spPr>
          <a:xfrm>
            <a:off x="640080" y="5148072"/>
            <a:ext cx="10972800" cy="704088"/>
          </a:xfrm>
          <a:prstGeom prst="roundRect">
            <a:avLst>
              <a:gd name="adj" fmla="val 15584"/>
            </a:avLst>
          </a:prstGeom>
          <a:solidFill>
            <a:srgbClr val="E9EFF2"/>
          </a:solidFill>
          <a:ln w="12700">
            <a:solidFill>
              <a:srgbClr val="E9EFF2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7824" y="5358384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7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protects the model from “cheating” and makes the live demo valid before upload.</a:t>
            </a:r>
            <a:endParaRPr lang="en-US" sz="1370" dirty="0"/>
          </a:p>
        </p:txBody>
      </p:sp>
      <p:sp>
        <p:nvSpPr>
          <p:cNvPr id="28" name="Shape 26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C9D8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table preserves a strict separation between metadata and outcomes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-1508760"/>
            <a:ext cx="4572000" cy="457200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27D7B5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0" y="-1051560"/>
            <a:ext cx="3383280" cy="338328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FF6D55">
                <a:alpha val="2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5" name="Text 3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 Forest delivered the strongest held-out performance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12527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linear baseline sets the floor; tree ensembles capture non-linear interactions among metadata signals.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749808" y="19385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Views R²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49808" y="23865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1481328" y="2377440"/>
            <a:ext cx="1920240" cy="256032"/>
          </a:xfrm>
          <a:prstGeom prst="roundRect">
            <a:avLst>
              <a:gd name="adj" fmla="val 50000"/>
            </a:avLst>
          </a:prstGeom>
          <a:solidFill>
            <a:srgbClr val="41637A"/>
          </a:solidFill>
          <a:ln w="12700">
            <a:solidFill>
              <a:srgbClr val="41637A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81328" y="2377440"/>
            <a:ext cx="594360" cy="256032"/>
          </a:xfrm>
          <a:prstGeom prst="roundRect">
            <a:avLst>
              <a:gd name="adj" fmla="val 50000"/>
            </a:avLst>
          </a:prstGeom>
          <a:solidFill>
            <a:srgbClr val="607383"/>
          </a:solidFill>
          <a:ln w="12700">
            <a:solidFill>
              <a:srgbClr val="60738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7872" y="2368296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9808" y="279806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2103120" y="2788920"/>
            <a:ext cx="3108960" cy="256032"/>
          </a:xfrm>
          <a:prstGeom prst="roundRect">
            <a:avLst>
              <a:gd name="adj" fmla="val 50000"/>
            </a:avLst>
          </a:prstGeom>
          <a:solidFill>
            <a:srgbClr val="41637A"/>
          </a:solidFill>
          <a:ln w="12700">
            <a:solidFill>
              <a:srgbClr val="41637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03120" y="2788920"/>
            <a:ext cx="1810512" cy="256032"/>
          </a:xfrm>
          <a:prstGeom prst="roundRect">
            <a:avLst>
              <a:gd name="adj" fmla="val 50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58384" y="277977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9808" y="358444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Engagement R²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49808" y="40325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1481328" y="4023360"/>
            <a:ext cx="1920240" cy="256032"/>
          </a:xfrm>
          <a:prstGeom prst="roundRect">
            <a:avLst>
              <a:gd name="adj" fmla="val 50000"/>
            </a:avLst>
          </a:prstGeom>
          <a:solidFill>
            <a:srgbClr val="41637A"/>
          </a:solidFill>
          <a:ln w="12700">
            <a:solidFill>
              <a:srgbClr val="41637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1328" y="4023360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607383"/>
          </a:solidFill>
          <a:ln w="12700">
            <a:solidFill>
              <a:srgbClr val="60738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47872" y="4014216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0.38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" y="444398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2103120" y="4434840"/>
            <a:ext cx="3108960" cy="256032"/>
          </a:xfrm>
          <a:prstGeom prst="roundRect">
            <a:avLst>
              <a:gd name="adj" fmla="val 50000"/>
            </a:avLst>
          </a:prstGeom>
          <a:solidFill>
            <a:srgbClr val="41637A"/>
          </a:solidFill>
          <a:ln w="12700">
            <a:solidFill>
              <a:srgbClr val="41637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03120" y="4434840"/>
            <a:ext cx="2907792" cy="256032"/>
          </a:xfrm>
          <a:prstGeom prst="roundRect">
            <a:avLst>
              <a:gd name="adj" fmla="val 50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58384" y="44256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903720" y="1792224"/>
            <a:ext cx="4480560" cy="3630168"/>
          </a:xfrm>
          <a:prstGeom prst="roundRect">
            <a:avLst>
              <a:gd name="adj" fmla="val 2519"/>
            </a:avLst>
          </a:prstGeom>
          <a:solidFill>
            <a:srgbClr val="12283A"/>
          </a:solidFill>
          <a:ln w="10160">
            <a:solidFill>
              <a:srgbClr val="2A556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78624" y="214884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90" kern="0" dirty="0">
                <a:solidFill>
                  <a:srgbClr val="FFC8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5-FOLD CROSS-VALIDATION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278624" y="2578608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278624" y="2880360"/>
            <a:ext cx="3383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 R² 0.367 ± 0.012</a:t>
            </a:r>
            <a:endParaRPr lang="en-US" sz="1230" dirty="0"/>
          </a:p>
          <a:p>
            <a:pPr algn="l" indent="0" marL="0">
              <a:buNone/>
            </a:pPr>
            <a:r>
              <a:rPr lang="en-US" sz="123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XGBoost R² 0.337 ± 0.016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7278624" y="3730752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Engagement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278624" y="4032504"/>
            <a:ext cx="3383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 R² 0.598 ± 0.025</a:t>
            </a:r>
            <a:endParaRPr lang="en-US" sz="1230" dirty="0"/>
          </a:p>
          <a:p>
            <a:pPr algn="l" indent="0" marL="0">
              <a:buNone/>
            </a:pPr>
            <a:r>
              <a:rPr lang="en-US" sz="123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XGBoost R² 0.569 ± 0.050</a:t>
            </a:r>
            <a:endParaRPr lang="en-US" sz="1230" dirty="0"/>
          </a:p>
        </p:txBody>
      </p:sp>
      <p:sp>
        <p:nvSpPr>
          <p:cNvPr id="32" name="Text 30"/>
          <p:cNvSpPr/>
          <p:nvPr/>
        </p:nvSpPr>
        <p:spPr>
          <a:xfrm>
            <a:off x="749808" y="5468112"/>
            <a:ext cx="1074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final saved models are size-tuned Random Forests.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3651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Evaluation: 80/20 held-out test plus five-fold cross-validation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009F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3" name="Text 1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3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Explainability turns a model score into discussion-ready evidence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527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feature importance identifies signals the model relied on. These are associations, not causal guarantees.</a:t>
            </a:r>
            <a:endParaRPr lang="en-US" sz="1180" dirty="0"/>
          </a:p>
        </p:txBody>
      </p:sp>
      <p:sp>
        <p:nvSpPr>
          <p:cNvPr id="6" name="Shape 4"/>
          <p:cNvSpPr/>
          <p:nvPr/>
        </p:nvSpPr>
        <p:spPr>
          <a:xfrm>
            <a:off x="612648" y="1792224"/>
            <a:ext cx="6784848" cy="4279392"/>
          </a:xfrm>
          <a:prstGeom prst="roundRect">
            <a:avLst>
              <a:gd name="adj" fmla="val 213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pic>
        <p:nvPicPr>
          <p:cNvPr id="7" name="Image 0" descr="Random Forest feature importances for views and engage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41248" y="2011680"/>
            <a:ext cx="6327648" cy="36393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909560" y="19202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Strongest signals in this fitted model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836408" y="2395728"/>
            <a:ext cx="3429000" cy="850392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37576" y="2596896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37576" y="2642616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86216" y="2578608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 length</a:t>
            </a:r>
            <a:endParaRPr lang="en-US" sz="1420" dirty="0"/>
          </a:p>
        </p:txBody>
      </p:sp>
      <p:sp>
        <p:nvSpPr>
          <p:cNvPr id="13" name="Text 10"/>
          <p:cNvSpPr/>
          <p:nvPr/>
        </p:nvSpPr>
        <p:spPr>
          <a:xfrm>
            <a:off x="8037576" y="3145536"/>
            <a:ext cx="3026664" cy="-82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proxy for how much searchable/contextual detail is provided.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36408" y="3447288"/>
            <a:ext cx="3429000" cy="850392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037576" y="3648456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37576" y="3694176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586216" y="3630168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Capitalisation style</a:t>
            </a:r>
            <a:endParaRPr lang="en-US" sz="1420" dirty="0"/>
          </a:p>
        </p:txBody>
      </p:sp>
      <p:sp>
        <p:nvSpPr>
          <p:cNvPr id="18" name="Text 15"/>
          <p:cNvSpPr/>
          <p:nvPr/>
        </p:nvSpPr>
        <p:spPr>
          <a:xfrm>
            <a:off x="8037576" y="4197096"/>
            <a:ext cx="3026664" cy="-82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title-packaging signal that the model uses alongside other metadata.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36408" y="4498848"/>
            <a:ext cx="3429000" cy="850392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37576" y="4700016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F6D55"/>
          </a:solidFill>
          <a:ln w="12700">
            <a:solidFill>
              <a:srgbClr val="FF6D55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037576" y="4745736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86216" y="4681728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signals</a:t>
            </a:r>
            <a:endParaRPr lang="en-US" sz="1420" dirty="0"/>
          </a:p>
        </p:txBody>
      </p:sp>
      <p:sp>
        <p:nvSpPr>
          <p:cNvPr id="23" name="Text 20"/>
          <p:cNvSpPr/>
          <p:nvPr/>
        </p:nvSpPr>
        <p:spPr>
          <a:xfrm>
            <a:off x="8037576" y="5248656"/>
            <a:ext cx="3026664" cy="-82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matters, but it is not the only driver of performance.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C9D8D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importance describes the model’s behaviour; it does not prove causation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009F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3" name="Text 1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3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analytics to creator-facing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527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recommendation is tied to observed data patterns and is presented with its confidence boundary.</a:t>
            </a:r>
            <a:endParaRPr lang="en-US" sz="1180" dirty="0"/>
          </a:p>
        </p:txBody>
      </p:sp>
      <p:sp>
        <p:nvSpPr>
          <p:cNvPr id="6" name="Shape 4"/>
          <p:cNvSpPr/>
          <p:nvPr/>
        </p:nvSpPr>
        <p:spPr>
          <a:xfrm>
            <a:off x="640080" y="1847088"/>
            <a:ext cx="5074920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048256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093976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89888" y="2029968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the description deliberately</a:t>
            </a:r>
            <a:endParaRPr lang="en-US" sz="1420" dirty="0"/>
          </a:p>
        </p:txBody>
      </p:sp>
      <p:sp>
        <p:nvSpPr>
          <p:cNvPr id="10" name="Text 8"/>
          <p:cNvSpPr/>
          <p:nvPr/>
        </p:nvSpPr>
        <p:spPr>
          <a:xfrm>
            <a:off x="841248" y="2596896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 length is the strongest feature in both fitted models.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847088"/>
            <a:ext cx="5074920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73368" y="2048256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093976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22008" y="2029968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title style intentional</a:t>
            </a:r>
            <a:endParaRPr lang="en-US" sz="1420" dirty="0"/>
          </a:p>
        </p:txBody>
      </p:sp>
      <p:sp>
        <p:nvSpPr>
          <p:cNvPr id="15" name="Text 13"/>
          <p:cNvSpPr/>
          <p:nvPr/>
        </p:nvSpPr>
        <p:spPr>
          <a:xfrm>
            <a:off x="6373368" y="2596896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Capitalisation and title structure matter, but overuse is not a guaranteed win.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447288"/>
            <a:ext cx="5074920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3648456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F6D55"/>
          </a:solidFill>
          <a:ln w="12700">
            <a:solidFill>
              <a:srgbClr val="FF6D5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94176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89888" y="3630168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consistent tags</a:t>
            </a:r>
            <a:endParaRPr lang="en-US" sz="1420" dirty="0"/>
          </a:p>
        </p:txBody>
      </p:sp>
      <p:sp>
        <p:nvSpPr>
          <p:cNvPr id="20" name="Text 18"/>
          <p:cNvSpPr/>
          <p:nvPr/>
        </p:nvSpPr>
        <p:spPr>
          <a:xfrm>
            <a:off x="841248" y="4197096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Tag count has a small positive correlation with views in this sample (r = 0.05).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72200" y="3447288"/>
            <a:ext cx="5074920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73368" y="3648456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3D7EFF"/>
          </a:solidFill>
          <a:ln w="12700">
            <a:solidFill>
              <a:srgbClr val="3D7E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3694176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22008" y="3630168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Treat timing as a testable hypothesis</a:t>
            </a:r>
            <a:endParaRPr lang="en-US" sz="1420" dirty="0"/>
          </a:p>
        </p:txBody>
      </p:sp>
      <p:sp>
        <p:nvSpPr>
          <p:cNvPr id="25" name="Text 23"/>
          <p:cNvSpPr/>
          <p:nvPr/>
        </p:nvSpPr>
        <p:spPr>
          <a:xfrm>
            <a:off x="6373368" y="4197096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Saturday 01:00 IST had the highest eligible median view count; timing effect is modest.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8368" y="5330952"/>
            <a:ext cx="10954512" cy="512064"/>
          </a:xfrm>
          <a:prstGeom prst="roundRect">
            <a:avLst>
              <a:gd name="adj" fmla="val 17857"/>
            </a:avLst>
          </a:prstGeom>
          <a:solidFill>
            <a:srgbClr val="091420"/>
          </a:solidFill>
          <a:ln w="12700">
            <a:solidFill>
              <a:srgbClr val="091420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7824" y="5495544"/>
            <a:ext cx="10515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note: “Shows” has the highest median views among categories with at least 30 videos in this data (about 621,739; n = 121).</a:t>
            </a:r>
            <a:endParaRPr lang="en-US" sz="1040" dirty="0"/>
          </a:p>
        </p:txBody>
      </p:sp>
      <p:sp>
        <p:nvSpPr>
          <p:cNvPr id="28" name="Shape 26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C9D8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Recommendations support choices before upload; real audience testing still matters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009F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3" name="Text 1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3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explainable tools turn one forecast into decisions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527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tool re-uses the same trained model and the same leakage-safe features; none needs the raw dataset at run time.</a:t>
            </a:r>
            <a:endParaRPr lang="en-US" sz="1180" dirty="0"/>
          </a:p>
        </p:txBody>
      </p:sp>
      <p:sp>
        <p:nvSpPr>
          <p:cNvPr id="6" name="Shape 4"/>
          <p:cNvSpPr/>
          <p:nvPr/>
        </p:nvSpPr>
        <p:spPr>
          <a:xfrm>
            <a:off x="603504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029968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0756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53312" y="201168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forecast</a:t>
            </a:r>
            <a:endParaRPr lang="en-US" sz="1420" dirty="0"/>
          </a:p>
        </p:txBody>
      </p:sp>
      <p:sp>
        <p:nvSpPr>
          <p:cNvPr id="10" name="Text 8"/>
          <p:cNvSpPr/>
          <p:nvPr/>
        </p:nvSpPr>
        <p:spPr>
          <a:xfrm>
            <a:off x="804672" y="2578608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Shapley values over five feature groups. The effects add up to forecast minus a typical trending video.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52544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029968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3712" y="20756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02352" y="201168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time to post</a:t>
            </a:r>
            <a:endParaRPr lang="en-US" sz="1420" dirty="0"/>
          </a:p>
        </p:txBody>
      </p:sp>
      <p:sp>
        <p:nvSpPr>
          <p:cNvPr id="15" name="Text 13"/>
          <p:cNvSpPr/>
          <p:nvPr/>
        </p:nvSpPr>
        <p:spPr>
          <a:xfrm>
            <a:off x="4553712" y="2578608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draft is scored in all 168 weekly slots (IST) and shown as a heatmap with the best three.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1584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02752" y="2029968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F6D55"/>
          </a:solidFill>
          <a:ln w="12700">
            <a:solidFill>
              <a:srgbClr val="FF6D5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2752" y="20756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851392" y="201168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Title lab</a:t>
            </a:r>
            <a:endParaRPr lang="en-US" sz="1420" dirty="0"/>
          </a:p>
        </p:txBody>
      </p:sp>
      <p:sp>
        <p:nvSpPr>
          <p:cNvPr id="20" name="Text 18"/>
          <p:cNvSpPr/>
          <p:nvPr/>
        </p:nvSpPr>
        <p:spPr>
          <a:xfrm>
            <a:off x="8302752" y="2578608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twelve programmatic edits are re-scored by the model and ranked; one click applies an edit.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" y="402336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4672" y="4224528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3D7EFF"/>
          </a:solidFill>
          <a:ln w="12700">
            <a:solidFill>
              <a:srgbClr val="3D7E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427024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353312" y="420624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videos</a:t>
            </a:r>
            <a:endParaRPr lang="en-US" sz="1420" dirty="0"/>
          </a:p>
        </p:txBody>
      </p:sp>
      <p:sp>
        <p:nvSpPr>
          <p:cNvPr id="25" name="Text 23"/>
          <p:cNvSpPr/>
          <p:nvPr/>
        </p:nvSpPr>
        <p:spPr>
          <a:xfrm>
            <a:off x="804672" y="4773168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TF-IDF look-alike trending videos give an independent second opinion on the forecast.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52544" y="402336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224528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53712" y="427024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02352" y="420624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Keyword radar</a:t>
            </a:r>
            <a:endParaRPr lang="en-US" sz="1420" dirty="0"/>
          </a:p>
        </p:txBody>
      </p:sp>
      <p:sp>
        <p:nvSpPr>
          <p:cNvPr id="30" name="Text 28"/>
          <p:cNvSpPr/>
          <p:nvPr/>
        </p:nvSpPr>
        <p:spPr>
          <a:xfrm>
            <a:off x="4553712" y="4773168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Median views by title word, using only words that appear across 25+ different channels.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01584" y="402336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8890">
            <a:solidFill>
              <a:srgbClr val="E9EFF2"/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02752" y="4224528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02752" y="427024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851392" y="420624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lab</a:t>
            </a:r>
            <a:endParaRPr lang="en-US" sz="1420" dirty="0"/>
          </a:p>
        </p:txBody>
      </p:sp>
      <p:sp>
        <p:nvSpPr>
          <p:cNvPr id="35" name="Text 33"/>
          <p:cNvSpPr/>
          <p:nvPr/>
        </p:nvSpPr>
        <p:spPr>
          <a:xfrm>
            <a:off x="8302752" y="4773168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A/B comparison with an interval-overlap check, plus a category what-if chart.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C9D8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outputs are associations learned from data, not causal promises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-1508760"/>
            <a:ext cx="4572000" cy="457200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27D7B5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0" y="-1051560"/>
            <a:ext cx="3383280" cy="338328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FF6D55">
                <a:alpha val="2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5" name="Text 3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sure is the model? We measured it, not assumed it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12527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Split-conformal 80% intervals are calibrated on out-of-fold errors, then tested on later uploads the calibration never saw.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58368" y="192024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12283A"/>
          </a:solidFill>
          <a:ln w="10160">
            <a:solidFill>
              <a:srgbClr val="2C566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21945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D7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80.0%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932688" y="3200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Out-of-fold coverage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32688" y="3566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views and engagement intervals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4407408" y="192024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12283A"/>
          </a:solidFill>
          <a:ln w="10160">
            <a:solidFill>
              <a:srgbClr val="2C56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21945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8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79.7%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81728" y="3200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Later-upload coverage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81728" y="3566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views interval (chronological holdout)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8156448" y="192024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12283A"/>
          </a:solidFill>
          <a:ln w="10160">
            <a:solidFill>
              <a:srgbClr val="2C56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0768" y="21945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6D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80.9%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430768" y="3200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Later-upload coverage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30768" y="3566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engagement interval (chronological holdout)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658368" y="44348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590288"/>
            <a:ext cx="10287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Honest reading: a views forecast is typically within x0.29 to x3.5 of the truth. The interval is wide because pre-publication metadata is a moderate signal (R² 0.42 in cross-validation, 0.37 on later uploads). A wide, correct interval is better than a narrow, wrong one.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3651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 automated tests • GitHub Actions CI • deployed as a Streamlit web service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-1508760"/>
            <a:ext cx="4572000" cy="457200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27D7B5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0" y="-1051560"/>
            <a:ext cx="3383280" cy="338328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FF6D55">
                <a:alpha val="2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5" name="Text 3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TA4 live demo: compare draft decisions before upload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12527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interactive application makes the model tangible without hiding its limitations.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4800600" cy="3611880"/>
          </a:xfrm>
          <a:prstGeom prst="roundRect">
            <a:avLst>
              <a:gd name="adj" fmla="val 2532"/>
            </a:avLst>
          </a:prstGeom>
          <a:solidFill>
            <a:srgbClr val="12283A"/>
          </a:solidFill>
          <a:ln w="10160">
            <a:solidFill>
              <a:srgbClr val="3150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21671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spc="90" kern="0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ENTER A DRAFT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969264" y="2587752"/>
            <a:ext cx="4133088" cy="347472"/>
          </a:xfrm>
          <a:prstGeom prst="roundRect">
            <a:avLst>
              <a:gd name="adj" fmla="val 15789"/>
            </a:avLst>
          </a:prstGeom>
          <a:solidFill>
            <a:srgbClr val="193A50"/>
          </a:solidFill>
          <a:ln w="12700">
            <a:solidFill>
              <a:srgbClr val="193A5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2697480"/>
            <a:ext cx="3657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Title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69264" y="3108960"/>
            <a:ext cx="4133088" cy="347472"/>
          </a:xfrm>
          <a:prstGeom prst="roundRect">
            <a:avLst>
              <a:gd name="adj" fmla="val 15789"/>
            </a:avLst>
          </a:prstGeom>
          <a:solidFill>
            <a:srgbClr val="193A50"/>
          </a:solidFill>
          <a:ln w="12700">
            <a:solidFill>
              <a:srgbClr val="193A50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218688"/>
            <a:ext cx="3657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969264" y="3630168"/>
            <a:ext cx="4133088" cy="347472"/>
          </a:xfrm>
          <a:prstGeom prst="roundRect">
            <a:avLst>
              <a:gd name="adj" fmla="val 15789"/>
            </a:avLst>
          </a:prstGeom>
          <a:solidFill>
            <a:srgbClr val="193A50"/>
          </a:solidFill>
          <a:ln w="12700">
            <a:solidFill>
              <a:srgbClr val="193A50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739896"/>
            <a:ext cx="3657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Tags / description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969264" y="4151376"/>
            <a:ext cx="4133088" cy="347472"/>
          </a:xfrm>
          <a:prstGeom prst="roundRect">
            <a:avLst>
              <a:gd name="adj" fmla="val 15789"/>
            </a:avLst>
          </a:prstGeom>
          <a:solidFill>
            <a:srgbClr val="193A50"/>
          </a:solidFill>
          <a:ln w="12700">
            <a:solidFill>
              <a:srgbClr val="193A5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61104"/>
            <a:ext cx="3657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 day and hour (IST)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5715000" y="3639312"/>
            <a:ext cx="1051560" cy="0"/>
          </a:xfrm>
          <a:prstGeom prst="line">
            <a:avLst/>
          </a:prstGeom>
          <a:noFill/>
          <a:ln w="25400">
            <a:solidFill>
              <a:srgbClr val="27D7B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013448" y="182880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60920" y="2167128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spc="75" kern="0" dirty="0">
                <a:solidFill>
                  <a:srgbClr val="009F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GET A TRANSPARENT ESTIMATE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7360920" y="267919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Predicted views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464040" y="2578608"/>
            <a:ext cx="1600200" cy="438912"/>
          </a:xfrm>
          <a:prstGeom prst="roundRect">
            <a:avLst>
              <a:gd name="adj" fmla="val 20833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64040" y="2724912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expm1()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60920" y="3374136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Predicted engagement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464040" y="3273552"/>
            <a:ext cx="1600200" cy="438912"/>
          </a:xfrm>
          <a:prstGeom prst="roundRect">
            <a:avLst>
              <a:gd name="adj" fmla="val 20833"/>
            </a:avLst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64040" y="3419856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 a %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360920" y="4096512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spc="55" kern="0" dirty="0">
                <a:solidFill>
                  <a:srgbClr val="FF6D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COMPARE DRAFTS AND EXPLAIN THE INPUTS</a:t>
            </a:r>
            <a:endParaRPr lang="en-US" sz="940" dirty="0"/>
          </a:p>
        </p:txBody>
      </p:sp>
      <p:sp>
        <p:nvSpPr>
          <p:cNvPr id="28" name="Text 26"/>
          <p:cNvSpPr/>
          <p:nvPr/>
        </p:nvSpPr>
        <p:spPr>
          <a:xfrm>
            <a:off x="7360920" y="4480560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estimates as a decision aid — not a promise.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3651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workflow: draft → feature row → saved model → human-readable result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009F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3" name="Text 1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3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model cannot see is as important as what it can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527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strong presentation states the boundaries of its evidence clearly.</a:t>
            </a:r>
            <a:endParaRPr lang="en-US" sz="1180" dirty="0"/>
          </a:p>
        </p:txBody>
      </p:sp>
      <p:sp>
        <p:nvSpPr>
          <p:cNvPr id="6" name="Shape 4"/>
          <p:cNvSpPr/>
          <p:nvPr/>
        </p:nvSpPr>
        <p:spPr>
          <a:xfrm>
            <a:off x="621792" y="1901952"/>
            <a:ext cx="3273552" cy="3337560"/>
          </a:xfrm>
          <a:prstGeom prst="roundRect">
            <a:avLst>
              <a:gd name="adj" fmla="val 279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77824" y="2167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D55"/>
          </a:solidFill>
          <a:ln w="12700">
            <a:solidFill>
              <a:srgbClr val="FF6D55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7824" y="228600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896112" y="2944368"/>
            <a:ext cx="2688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55" kern="0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TRENDING-ONLY SAMPLE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6112" y="3438144"/>
            <a:ext cx="2633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dataset has no non-trending comparison group, so we estimate relative performance among videos that already succeeded.</a:t>
            </a:r>
            <a:endParaRPr lang="en-US" sz="1240" dirty="0"/>
          </a:p>
        </p:txBody>
      </p:sp>
      <p:sp>
        <p:nvSpPr>
          <p:cNvPr id="11" name="Shape 9"/>
          <p:cNvSpPr/>
          <p:nvPr/>
        </p:nvSpPr>
        <p:spPr>
          <a:xfrm>
            <a:off x="4389120" y="1901952"/>
            <a:ext cx="3273552" cy="3337560"/>
          </a:xfrm>
          <a:prstGeom prst="roundRect">
            <a:avLst>
              <a:gd name="adj" fmla="val 279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45152" y="2167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228600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4663440" y="2944368"/>
            <a:ext cx="2688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55" kern="0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HIGH-IMPACT SIGNALS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3440" y="3438144"/>
            <a:ext cx="2633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Thumbnail quality, channel reputation, audience retention and platform ranking signals are not available.</a:t>
            </a:r>
            <a:endParaRPr lang="en-US" sz="1240" dirty="0"/>
          </a:p>
        </p:txBody>
      </p:sp>
      <p:sp>
        <p:nvSpPr>
          <p:cNvPr id="16" name="Shape 14"/>
          <p:cNvSpPr/>
          <p:nvPr/>
        </p:nvSpPr>
        <p:spPr>
          <a:xfrm>
            <a:off x="8156448" y="1901952"/>
            <a:ext cx="3273552" cy="3337560"/>
          </a:xfrm>
          <a:prstGeom prst="roundRect">
            <a:avLst>
              <a:gd name="adj" fmla="val 279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111A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167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2286000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8430768" y="2944368"/>
            <a:ext cx="2688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55" kern="0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FIT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30768" y="3438144"/>
            <a:ext cx="2633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Pre-publication metadata explains about 42% of log-view variation (37% on later uploads) and 64% of engagement variation (53% on later uploads).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621792" y="5614416"/>
            <a:ext cx="10954512" cy="411480"/>
          </a:xfrm>
          <a:prstGeom prst="roundRect">
            <a:avLst>
              <a:gd name="adj" fmla="val 22222"/>
            </a:avLst>
          </a:prstGeom>
          <a:solidFill>
            <a:srgbClr val="E9EFF2"/>
          </a:solidFill>
          <a:ln w="12700">
            <a:solidFill>
              <a:srgbClr val="E9EFF2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742432"/>
            <a:ext cx="10469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3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Responsible conclusion: the system supports better questions and comparisons, not certainty about a future audience.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C9D8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 are part of the result, not an afterthought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073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-1508760"/>
            <a:ext cx="4572000" cy="457200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27D7B5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0" y="-1051560"/>
            <a:ext cx="3383280" cy="338328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FF6D55">
                <a:alpha val="2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5" name="Text 3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project can grow from a strong baseline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12527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current system is deliberately interpretable; the next version can expand the evidence without sacrificing clarity.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58368" y="1865376"/>
            <a:ext cx="5093208" cy="1152144"/>
          </a:xfrm>
          <a:prstGeom prst="roundRect">
            <a:avLst>
              <a:gd name="adj" fmla="val 7937"/>
            </a:avLst>
          </a:prstGeom>
          <a:solidFill>
            <a:srgbClr val="12283A"/>
          </a:solidFill>
          <a:ln w="8890">
            <a:solidFill>
              <a:srgbClr val="2444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" y="206654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7D7B5"/>
          </a:solidFill>
          <a:ln w="12700">
            <a:solidFill>
              <a:srgbClr val="27D7B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112264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408176" y="204825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Richer title semantics</a:t>
            </a:r>
            <a:endParaRPr lang="en-US" sz="1420" dirty="0"/>
          </a:p>
        </p:txBody>
      </p:sp>
      <p:sp>
        <p:nvSpPr>
          <p:cNvPr id="12" name="Text 10"/>
          <p:cNvSpPr/>
          <p:nvPr/>
        </p:nvSpPr>
        <p:spPr>
          <a:xfrm>
            <a:off x="859536" y="2615184"/>
            <a:ext cx="4690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Readability, sentiment and topic features can add nuance beyond simple length and capitalisation.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36208" y="1865376"/>
            <a:ext cx="5093208" cy="1152144"/>
          </a:xfrm>
          <a:prstGeom prst="roundRect">
            <a:avLst>
              <a:gd name="adj" fmla="val 7937"/>
            </a:avLst>
          </a:prstGeom>
          <a:solidFill>
            <a:srgbClr val="12283A"/>
          </a:solidFill>
          <a:ln w="8890">
            <a:solidFill>
              <a:srgbClr val="2444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37376" y="206654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2112264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86016" y="204825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Thumbnail intelligence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6437376" y="2615184"/>
            <a:ext cx="4690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Computer-vision features can capture visual packaging, a major missing signal today.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" y="3419856"/>
            <a:ext cx="5093208" cy="1152144"/>
          </a:xfrm>
          <a:prstGeom prst="roundRect">
            <a:avLst>
              <a:gd name="adj" fmla="val 7937"/>
            </a:avLst>
          </a:prstGeom>
          <a:solidFill>
            <a:srgbClr val="12283A"/>
          </a:solidFill>
          <a:ln w="8890">
            <a:solidFill>
              <a:srgbClr val="2444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9536" y="362102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F6D55"/>
          </a:solidFill>
          <a:ln w="12700">
            <a:solidFill>
              <a:srgbClr val="FF6D5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666744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408176" y="360273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outcome dataset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859536" y="4169664"/>
            <a:ext cx="4690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 fixed-age performance for trending and non-trending uploads to reduce survivorship bias.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6208" y="3419856"/>
            <a:ext cx="5093208" cy="1152144"/>
          </a:xfrm>
          <a:prstGeom prst="roundRect">
            <a:avLst>
              <a:gd name="adj" fmla="val 7937"/>
            </a:avLst>
          </a:prstGeom>
          <a:solidFill>
            <a:srgbClr val="12283A"/>
          </a:solidFill>
          <a:ln w="8890">
            <a:solidFill>
              <a:srgbClr val="2444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37376" y="362102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3D7EFF"/>
          </a:solidFill>
          <a:ln w="12700">
            <a:solidFill>
              <a:srgbClr val="3D7E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37376" y="3666744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9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86016" y="360273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Creator feedback loop</a:t>
            </a:r>
            <a:endParaRPr lang="en-US" sz="1420" dirty="0"/>
          </a:p>
        </p:txBody>
      </p:sp>
      <p:sp>
        <p:nvSpPr>
          <p:cNvPr id="27" name="Text 25"/>
          <p:cNvSpPr/>
          <p:nvPr/>
        </p:nvSpPr>
        <p:spPr>
          <a:xfrm>
            <a:off x="6437376" y="4169664"/>
            <a:ext cx="4690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predicted versus actual outcomes, then retrain with newer data and real experiments.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3651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work is a roadmap, not a claim about the current fitted model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-1508760"/>
            <a:ext cx="4572000" cy="457200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27D7B5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0" y="-1051560"/>
            <a:ext cx="3383280" cy="3383280"/>
          </a:xfrm>
          <a:prstGeom prst="arc">
            <a:avLst/>
          </a:prstGeom>
          <a:solidFill>
            <a:srgbClr val="091420">
              <a:alpha val="0"/>
            </a:srgbClr>
          </a:solidFill>
          <a:ln w="15240">
            <a:solidFill>
              <a:srgbClr val="FF6D55">
                <a:alpha val="2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spc="130" kern="0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ML • THEMATIC ASSESSMENT 4</a:t>
            </a:r>
            <a:endParaRPr lang="en-US" sz="870" dirty="0"/>
          </a:p>
        </p:txBody>
      </p:sp>
      <p:sp>
        <p:nvSpPr>
          <p:cNvPr id="5" name="Text 3"/>
          <p:cNvSpPr/>
          <p:nvPr/>
        </p:nvSpPr>
        <p:spPr>
          <a:xfrm>
            <a:off x="11109960" y="320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120700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110" kern="0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takeaway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64208"/>
            <a:ext cx="6537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student-built,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explainable ML system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makes upload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choices discussable.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7882128" y="1417320"/>
            <a:ext cx="3182112" cy="3611880"/>
          </a:xfrm>
          <a:prstGeom prst="roundRect">
            <a:avLst>
              <a:gd name="adj" fmla="val 2874"/>
            </a:avLst>
          </a:prstGeom>
          <a:solidFill>
            <a:srgbClr val="12283A"/>
          </a:solidFill>
          <a:ln w="10160">
            <a:solidFill>
              <a:srgbClr val="32536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57032" y="1828800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90" kern="0" dirty="0">
                <a:solidFill>
                  <a:srgbClr val="27D7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57032" y="20848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16,307 unique videos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57032" y="267004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90" kern="0" dirty="0">
                <a:solidFill>
                  <a:srgbClr val="FFC8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57032" y="29260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+ calibrated intervals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57032" y="351129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90" kern="0" dirty="0">
                <a:solidFill>
                  <a:srgbClr val="FF6D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57032" y="37673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Explain, time, edit, compare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50109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C8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58368" y="5449824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Questions, model walkthrough, or live demo?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3651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6547104"/>
            <a:ext cx="9692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AI-Based YouTube Analytics and Content Strategy Prediction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412480" y="6547104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DC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Kaggle India trending-video snapshot • project results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SGT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AI-Based YouTube Analytics and Content Strategy Prediction — TA4</dc:title>
  <dc:subject>AI-Based YouTube Analytics and Content Strategy Prediction</dc:subject>
  <dc:creator>AI/ML Thematic Assessment Team</dc:creator>
  <cp:lastModifiedBy>AI/ML Thematic Assessment Team</cp:lastModifiedBy>
  <cp:revision>1</cp:revision>
  <dcterms:created xsi:type="dcterms:W3CDTF">2026-10-26T14:55:47Z</dcterms:created>
  <dcterms:modified xsi:type="dcterms:W3CDTF">2026-10-26T14:55:47Z</dcterms:modified>
</cp:coreProperties>
</file>