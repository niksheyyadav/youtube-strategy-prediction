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-1508760"/>
            <a:ext cx="4572000" cy="457200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27D7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51560"/>
            <a:ext cx="3383280" cy="338328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FF6D55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146304" cy="4526280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78992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YouTube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Content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Prediction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932688" y="3410712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pre-publication metadata help a creator make a better upload decision?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32688" y="4315968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12283A"/>
          </a:solidFill>
          <a:ln w="8890">
            <a:solidFill>
              <a:srgbClr val="2D52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448056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TA4 FINAL EVALUATION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46817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• Explainability • Live demo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1188720"/>
            <a:ext cx="3246120" cy="4297680"/>
          </a:xfrm>
          <a:prstGeom prst="roundRect">
            <a:avLst>
              <a:gd name="adj" fmla="val 2817"/>
            </a:avLst>
          </a:prstGeom>
          <a:solidFill>
            <a:srgbClr val="12283A"/>
          </a:solidFill>
          <a:ln w="10160">
            <a:solidFill>
              <a:srgbClr val="3150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1508760"/>
            <a:ext cx="1261872" cy="438912"/>
          </a:xfrm>
          <a:prstGeom prst="roundRect">
            <a:avLst>
              <a:gd name="adj" fmla="val 25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62763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573768" y="1728216"/>
            <a:ext cx="438912" cy="0"/>
          </a:xfrm>
          <a:prstGeom prst="line">
            <a:avLst/>
          </a:prstGeom>
          <a:noFill/>
          <a:ln w="15240">
            <a:solidFill>
              <a:srgbClr val="DCE7E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93608" y="2286000"/>
            <a:ext cx="1261872" cy="438912"/>
          </a:xfrm>
          <a:prstGeom prst="roundRect">
            <a:avLst>
              <a:gd name="adj" fmla="val 25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40487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73768" y="2505456"/>
            <a:ext cx="438912" cy="0"/>
          </a:xfrm>
          <a:prstGeom prst="line">
            <a:avLst/>
          </a:prstGeom>
          <a:noFill/>
          <a:ln w="15240">
            <a:solidFill>
              <a:srgbClr val="DCE7E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93608" y="3063240"/>
            <a:ext cx="1261872" cy="438912"/>
          </a:xfrm>
          <a:prstGeom prst="roundRect">
            <a:avLst>
              <a:gd name="adj" fmla="val 25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318211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73768" y="3282696"/>
            <a:ext cx="438912" cy="0"/>
          </a:xfrm>
          <a:prstGeom prst="line">
            <a:avLst/>
          </a:prstGeom>
          <a:noFill/>
          <a:ln w="15240">
            <a:solidFill>
              <a:srgbClr val="DCE7E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93608" y="3840480"/>
            <a:ext cx="1261872" cy="438912"/>
          </a:xfrm>
          <a:prstGeom prst="roundRect">
            <a:avLst>
              <a:gd name="adj" fmla="val 25000"/>
            </a:avLst>
          </a:prstGeom>
          <a:solidFill>
            <a:srgbClr val="3D7EFF"/>
          </a:solidFill>
          <a:ln w="12700">
            <a:solidFill>
              <a:srgbClr val="3D7E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395935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573768" y="4059936"/>
            <a:ext cx="438912" cy="0"/>
          </a:xfrm>
          <a:prstGeom prst="line">
            <a:avLst/>
          </a:prstGeom>
          <a:noFill/>
          <a:ln w="15240">
            <a:solidFill>
              <a:srgbClr val="DCE7E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95560" y="2395728"/>
            <a:ext cx="768096" cy="14813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0" y="2724912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79608" y="3913632"/>
            <a:ext cx="0" cy="576072"/>
          </a:xfrm>
          <a:prstGeom prst="line">
            <a:avLst/>
          </a:prstGeom>
          <a:noFill/>
          <a:ln w="17145">
            <a:solidFill>
              <a:srgbClr val="27D7B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75320" y="4709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+ engagement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honest limits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651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decision-support model for already trending videos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3" name="Text 1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happens before the video goes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Creators choose metadata first, then receive feedback only after the key distribution window has passed.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756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16736" y="20116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Creator-controlled choices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68096" y="2578608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description, tags, category and publish time are known before upload.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82880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756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0116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task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4572000" y="2578608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relative views and engagement from only those pre-publication signals.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74736" y="182880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20756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24544" y="20116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output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375904" y="2578608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model patterns into a transparent checklist and a live draft comparison.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2976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91420"/>
          </a:solidFill>
          <a:ln w="12700">
            <a:solidFill>
              <a:srgbClr val="09142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572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we can defend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80944" y="4462272"/>
            <a:ext cx="8110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Among videos that already trended in India, metadata helps estimate relative performance. It does not tell us whether an arbitrary upload will become viral.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9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is explicit: decision support, not a viral/non-viral classifier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-1508760"/>
            <a:ext cx="4572000" cy="457200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27D7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51560"/>
            <a:ext cx="3383280" cy="338328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FF6D55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India dataset — cleaned at the video level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Trending YouTube Video Statistics (Kaggle), India subset; each raw record is one daily trending snapshot.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21792" y="1901952"/>
            <a:ext cx="3337560" cy="3401568"/>
          </a:xfrm>
          <a:prstGeom prst="roundRect">
            <a:avLst>
              <a:gd name="adj" fmla="val 2740"/>
            </a:avLst>
          </a:prstGeom>
          <a:solidFill>
            <a:srgbClr val="12283A"/>
          </a:solidFill>
          <a:ln w="10160">
            <a:solidFill>
              <a:srgbClr val="2C56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SNAPSHOTS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5877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37,352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14400" y="349300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video can appear on the trending list on several days.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14400" y="46634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46634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9072" y="46634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21408" y="46634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3744" y="46634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3672" y="3474720"/>
            <a:ext cx="2770632" cy="0"/>
          </a:xfrm>
          <a:prstGeom prst="line">
            <a:avLst/>
          </a:prstGeom>
          <a:noFill/>
          <a:ln w="26670">
            <a:solidFill>
              <a:srgbClr val="27D7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26280" y="2862072"/>
            <a:ext cx="2029968" cy="1115568"/>
          </a:xfrm>
          <a:prstGeom prst="roundRect">
            <a:avLst>
              <a:gd name="adj" fmla="val 8197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145536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DE-DUPLICATE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VIDEO 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65592" y="1901952"/>
            <a:ext cx="3401568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2240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VIDEOS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39912" y="258775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16,307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458200" y="3493008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snapshot retained per video; no required-field rows were lost.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76656" y="5760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matters: avoids over-weighting videos simply because they trended longer.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651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parsing precedes sorting so the retained record is truly the latest snapshot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3" name="Text 1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reproducible AI/ML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a clear supervised-regression pipeline, from raw evidence to creator-facing guidance.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594360" y="2130552"/>
            <a:ext cx="1883664" cy="248716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359152"/>
            <a:ext cx="484632" cy="48463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9631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354787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dates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2496312" y="3383280"/>
            <a:ext cx="356616" cy="0"/>
          </a:xfrm>
          <a:prstGeom prst="line">
            <a:avLst/>
          </a:prstGeom>
          <a:noFill/>
          <a:ln w="19050">
            <a:solidFill>
              <a:srgbClr val="009F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98648" y="2130552"/>
            <a:ext cx="1883664" cy="248716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2359152"/>
            <a:ext cx="484632" cy="48463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49631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08960" y="354787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Pre-publish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only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4800600" y="3383280"/>
            <a:ext cx="356616" cy="0"/>
          </a:xfrm>
          <a:prstGeom prst="line">
            <a:avLst/>
          </a:prstGeom>
          <a:noFill/>
          <a:ln w="19050">
            <a:solidFill>
              <a:srgbClr val="009F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02936" y="2130552"/>
            <a:ext cx="1883664" cy="248716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13248" y="2359152"/>
            <a:ext cx="484632" cy="48463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249631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13248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13248" y="354787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Linear, RF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XGBoost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7104888" y="3383280"/>
            <a:ext cx="356616" cy="0"/>
          </a:xfrm>
          <a:prstGeom prst="line">
            <a:avLst/>
          </a:prstGeom>
          <a:noFill/>
          <a:ln w="19050">
            <a:solidFill>
              <a:srgbClr val="009F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07224" y="2130552"/>
            <a:ext cx="1883664" cy="248716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17536" y="2359152"/>
            <a:ext cx="484632" cy="48463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7536" y="249631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17536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17536" y="354787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5-fold CV +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test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9409176" y="3383280"/>
            <a:ext cx="356616" cy="0"/>
          </a:xfrm>
          <a:prstGeom prst="line">
            <a:avLst/>
          </a:prstGeom>
          <a:noFill/>
          <a:ln w="19050">
            <a:solidFill>
              <a:srgbClr val="009F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11512" y="2130552"/>
            <a:ext cx="1883664" cy="248716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21824" y="2359152"/>
            <a:ext cx="484632" cy="484632"/>
          </a:xfrm>
          <a:prstGeom prst="roundRect">
            <a:avLst>
              <a:gd name="adj" fmla="val 50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21824" y="249631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21824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021824" y="354787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+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advice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594360" y="5148072"/>
            <a:ext cx="10991088" cy="704088"/>
          </a:xfrm>
          <a:prstGeom prst="roundRect">
            <a:avLst>
              <a:gd name="adj" fmla="val 15584"/>
            </a:avLst>
          </a:prstGeom>
          <a:solidFill>
            <a:srgbClr val="091420"/>
          </a:solidFill>
          <a:ln w="12700">
            <a:solidFill>
              <a:srgbClr val="09142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358384"/>
            <a:ext cx="10442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firewall: likes, dislikes and comment count are outcomes only — never inputs.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9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Scripts: clean.py → features.py → train.py → evaluate.py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3" name="Text 1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answers one question: what is known before publication?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are transparent enough to explain in a viva and practical enough for a creator to change.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6611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47088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11226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59152" y="20848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length • word count • number • question mark • capitals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6611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07792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7296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59152" y="31455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 count • category • description length</a:t>
            </a:r>
            <a:endParaRPr lang="en-US" sz="1310" dirty="0"/>
          </a:p>
        </p:txBody>
      </p:sp>
      <p:sp>
        <p:nvSpPr>
          <p:cNvPr id="14" name="Shape 12"/>
          <p:cNvSpPr/>
          <p:nvPr/>
        </p:nvSpPr>
        <p:spPr>
          <a:xfrm>
            <a:off x="640080" y="3968496"/>
            <a:ext cx="6611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68496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233672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59152" y="42062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day and hour, converted from UTC to IST</a:t>
            </a:r>
            <a:endParaRPr lang="en-US" sz="1310" dirty="0"/>
          </a:p>
        </p:txBody>
      </p:sp>
      <p:sp>
        <p:nvSpPr>
          <p:cNvPr id="18" name="Shape 16"/>
          <p:cNvSpPr/>
          <p:nvPr/>
        </p:nvSpPr>
        <p:spPr>
          <a:xfrm>
            <a:off x="7799832" y="1847088"/>
            <a:ext cx="3730752" cy="2926080"/>
          </a:xfrm>
          <a:prstGeom prst="roundRect">
            <a:avLst>
              <a:gd name="adj" fmla="val 3125"/>
            </a:avLst>
          </a:prstGeom>
          <a:solidFill>
            <a:srgbClr val="091420"/>
          </a:solidFill>
          <a:ln w="12700">
            <a:solidFill>
              <a:srgbClr val="09142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19872" y="22128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19872" y="2606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26609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as log1p(views)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19872" y="32735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rate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19872" y="36393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(likes + comments) / views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3296" y="4087368"/>
            <a:ext cx="3154680" cy="393192"/>
          </a:xfrm>
          <a:prstGeom prst="roundRect">
            <a:avLst>
              <a:gd name="adj" fmla="val 18605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4187952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post-publication counts excluded from inputs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40080" y="5148072"/>
            <a:ext cx="10972800" cy="704088"/>
          </a:xfrm>
          <a:prstGeom prst="roundRect">
            <a:avLst>
              <a:gd name="adj" fmla="val 15584"/>
            </a:avLst>
          </a:prstGeom>
          <a:solidFill>
            <a:srgbClr val="E9EFF2"/>
          </a:solidFill>
          <a:ln w="12700">
            <a:solidFill>
              <a:srgbClr val="E9EFF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35838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protects the model from “cheating” and makes the live demo valid before upload.</a:t>
            </a:r>
            <a:endParaRPr lang="en-US" sz="137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9D8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table preserves a strict separation between metadata and outcomes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-1508760"/>
            <a:ext cx="4572000" cy="457200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27D7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51560"/>
            <a:ext cx="3383280" cy="338328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FF6D55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delivered the strongest held-out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linear baseline sets the floor; tree ensembles capture non-linear interactions among metadata signals.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749808" y="19385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R²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808" y="23865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1481328" y="237744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41637A"/>
          </a:solidFill>
          <a:ln w="12700">
            <a:solidFill>
              <a:srgbClr val="41637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1328" y="237744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607383"/>
          </a:solidFill>
          <a:ln w="12700">
            <a:solidFill>
              <a:srgbClr val="60738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6829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798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103120" y="2788920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41637A"/>
          </a:solidFill>
          <a:ln w="12700">
            <a:solidFill>
              <a:srgbClr val="41637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788920"/>
            <a:ext cx="1810512" cy="25603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27797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R²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49808" y="4032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1481328" y="402336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41637A"/>
          </a:solidFill>
          <a:ln w="12700">
            <a:solidFill>
              <a:srgbClr val="41637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1328" y="402336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607383"/>
          </a:solidFill>
          <a:ln w="12700">
            <a:solidFill>
              <a:srgbClr val="6073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401421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44439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2103120" y="4434840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41637A"/>
          </a:solidFill>
          <a:ln w="12700">
            <a:solidFill>
              <a:srgbClr val="41637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4434840"/>
            <a:ext cx="2907792" cy="25603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8384" y="44256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792224"/>
            <a:ext cx="4480560" cy="3630168"/>
          </a:xfrm>
          <a:prstGeom prst="roundRect">
            <a:avLst>
              <a:gd name="adj" fmla="val 2519"/>
            </a:avLst>
          </a:prstGeom>
          <a:solidFill>
            <a:srgbClr val="12283A"/>
          </a:solidFill>
          <a:ln w="10160">
            <a:solidFill>
              <a:srgbClr val="2A55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21488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5-FOLD CROSS-VALIDATION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78624" y="257860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78624" y="2880360"/>
            <a:ext cx="3383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R² 0.367 ± 0.012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R² 0.337 ± 0.016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7278624" y="373075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78624" y="4032504"/>
            <a:ext cx="3383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R² 0.598 ± 0.025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R² 0.569 ± 0.050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749808" y="546811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saved models are size-tuned Random Forests.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651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Evaluation: 80/20 held-out test plus five-fold cross-validation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3" name="Text 1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turns a model score into discussion-ready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feature importance identifies signals the model relied on. These are associations, not causal guarantees.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92224"/>
            <a:ext cx="6784848" cy="4279392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pic>
        <p:nvPicPr>
          <p:cNvPr id="7" name="Image 0" descr="Random Forest feature importances for views and engage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2011680"/>
            <a:ext cx="6327648" cy="3639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signals in this fitted model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36408" y="2395728"/>
            <a:ext cx="342900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37576" y="259689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37576" y="264261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86216" y="257860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 length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8037576" y="3145536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proxy for how much searchable/contextual detail is provided.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36408" y="3447288"/>
            <a:ext cx="342900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37576" y="36484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37576" y="36941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86216" y="363016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Capitalisation style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037576" y="4197096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title-packaging signal that the model uses alongside other metadata.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36408" y="4498848"/>
            <a:ext cx="342900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37576" y="47000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37576" y="474573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86216" y="468172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signals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8037576" y="5248656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matters, but it is not the only driver of performance.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9D8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importance describes the model’s behaviour; it does not prove causation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3" name="Text 1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analytics to creator-facing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recommendation is tied to observed data patterns and is presented with its confidence boundary.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50749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482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939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2029968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description deliberately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41248" y="259689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 length is the strongest feature in both fitted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847088"/>
            <a:ext cx="50749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20482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0939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22008" y="2029968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title style intentional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373368" y="259689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Capitalisation and title structure matter, but overuse is not a guaranteed win.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50749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6484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941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9888" y="3630168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consistent tags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41248" y="419709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 count has a small positive correlation with views in this sample (r = 0.05).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447288"/>
            <a:ext cx="50749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36484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D7EFF"/>
          </a:solidFill>
          <a:ln w="12700">
            <a:solidFill>
              <a:srgbClr val="3D7E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36941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3630168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timing as a testable hypothesis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6373368" y="419709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Saturday 01:00 IST had the highest eligible median view count; timing effect is modest.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5330952"/>
            <a:ext cx="10954512" cy="512064"/>
          </a:xfrm>
          <a:prstGeom prst="roundRect">
            <a:avLst>
              <a:gd name="adj" fmla="val 17857"/>
            </a:avLst>
          </a:prstGeom>
          <a:solidFill>
            <a:srgbClr val="091420"/>
          </a:solidFill>
          <a:ln w="12700">
            <a:solidFill>
              <a:srgbClr val="09142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49554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note: “Shows” has the highest median views among categories with at least 30 videos in this data (about 621,739; n = 121).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9D8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support choices before upload; real audience testing still matters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3" name="Text 1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explainable tools turn one forecast into decisions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tool re-uses the same trained model and the same leakage-safe features; none needs the raw dataset at run time.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03504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756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201168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forecast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04672" y="2578608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Shapley values over five feature groups. The effects add up to forecast minus a typical trending video.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0756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02352" y="201168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time to post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4553712" y="2578608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draft is scored in all 168 weekly slots (IST) and shown as a heatmap with the best three.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0756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51392" y="201168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lab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302752" y="2578608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twelve programmatic edits are re-scored by the model and ranked; one click applies an edit.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2245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D7EFF"/>
          </a:solidFill>
          <a:ln w="12700">
            <a:solidFill>
              <a:srgbClr val="3D7E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2702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53312" y="420624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videos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804672" y="4773168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look-alike trending videos give an independent second opinion on the forecast.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3712" y="42245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42702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420624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radar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4553712" y="4773168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views by title word, using only words that appear across 25+ different channels.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1584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9EFF2"/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02752" y="42245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42702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51392" y="420624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lab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8302752" y="4773168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comparison with an interval-overlap check, plus a category what-if chart.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9D8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outputs are associations learned from data, not causal promises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-1508760"/>
            <a:ext cx="4572000" cy="457200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27D7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51560"/>
            <a:ext cx="3383280" cy="338328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FF6D55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sure is the model? We measured it, not assumed 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Split-conformal 80% intervals are calibrated on out-of-fold errors, then tested on later uploads the calibration never saw.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2283A"/>
          </a:solidFill>
          <a:ln w="10160">
            <a:solidFill>
              <a:srgbClr val="2C56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94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7D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32688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Out-of-fold 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and engagement intervals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407408" y="19202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2283A"/>
          </a:solidFill>
          <a:ln w="10160">
            <a:solidFill>
              <a:srgbClr val="2C5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194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79.7%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81728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Later-upload coverage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interval (chronological holdout)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56448" y="19202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2283A"/>
          </a:solidFill>
          <a:ln w="10160">
            <a:solidFill>
              <a:srgbClr val="2C5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194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6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80.9%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30768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Later-upload coverage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0768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interval (chronological holdout)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434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590288"/>
            <a:ext cx="10287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reading: a views forecast is typically within x0.29 to x3.5 of the truth. The interval is wide because pre-publication metadata is a moderate signal (R² 0.42 in cross-validation, 0.37 on later uploads). A wide, correct interval is better than a narrow, wrong one.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651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automated tests • GitHub Actions CI • deployed as a Streamlit web service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-1508760"/>
            <a:ext cx="4572000" cy="457200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27D7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51560"/>
            <a:ext cx="3383280" cy="338328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FF6D55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TA4 live demo: compare draft decisions before upload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interactive application makes the model tangible without hiding its limitations.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4800600" cy="3611880"/>
          </a:xfrm>
          <a:prstGeom prst="roundRect">
            <a:avLst>
              <a:gd name="adj" fmla="val 2532"/>
            </a:avLst>
          </a:prstGeom>
          <a:solidFill>
            <a:srgbClr val="12283A"/>
          </a:solidFill>
          <a:ln w="10160">
            <a:solidFill>
              <a:srgbClr val="3150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167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spc="9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ENTER A DRAFT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969264" y="2587752"/>
            <a:ext cx="4133088" cy="347472"/>
          </a:xfrm>
          <a:prstGeom prst="roundRect">
            <a:avLst>
              <a:gd name="adj" fmla="val 15789"/>
            </a:avLst>
          </a:prstGeom>
          <a:solidFill>
            <a:srgbClr val="193A50"/>
          </a:solidFill>
          <a:ln w="12700">
            <a:solidFill>
              <a:srgbClr val="193A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97480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69264" y="3108960"/>
            <a:ext cx="4133088" cy="347472"/>
          </a:xfrm>
          <a:prstGeom prst="roundRect">
            <a:avLst>
              <a:gd name="adj" fmla="val 15789"/>
            </a:avLst>
          </a:prstGeom>
          <a:solidFill>
            <a:srgbClr val="193A50"/>
          </a:solidFill>
          <a:ln w="12700">
            <a:solidFill>
              <a:srgbClr val="193A5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18688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69264" y="3630168"/>
            <a:ext cx="4133088" cy="347472"/>
          </a:xfrm>
          <a:prstGeom prst="roundRect">
            <a:avLst>
              <a:gd name="adj" fmla="val 15789"/>
            </a:avLst>
          </a:prstGeom>
          <a:solidFill>
            <a:srgbClr val="193A50"/>
          </a:solidFill>
          <a:ln w="12700">
            <a:solidFill>
              <a:srgbClr val="193A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739896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 / description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69264" y="4151376"/>
            <a:ext cx="4133088" cy="347472"/>
          </a:xfrm>
          <a:prstGeom prst="roundRect">
            <a:avLst>
              <a:gd name="adj" fmla="val 15789"/>
            </a:avLst>
          </a:prstGeom>
          <a:solidFill>
            <a:srgbClr val="193A50"/>
          </a:solidFill>
          <a:ln w="12700">
            <a:solidFill>
              <a:srgbClr val="193A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61104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day and hour (IST)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715000" y="3639312"/>
            <a:ext cx="1051560" cy="0"/>
          </a:xfrm>
          <a:prstGeom prst="line">
            <a:avLst/>
          </a:prstGeom>
          <a:noFill/>
          <a:ln w="25400">
            <a:solidFill>
              <a:srgbClr val="27D7B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13448" y="1828800"/>
            <a:ext cx="4507992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60920" y="216712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spc="75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GET A TRANSPARENT ESTIMATE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7360920" y="26791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views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64040" y="2578608"/>
            <a:ext cx="1600200" cy="438912"/>
          </a:xfrm>
          <a:prstGeom prst="roundRect">
            <a:avLst>
              <a:gd name="adj" fmla="val 20833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272491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expm1()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60920" y="33741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engagement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464040" y="3273552"/>
            <a:ext cx="1600200" cy="438912"/>
          </a:xfrm>
          <a:prstGeom prst="roundRect">
            <a:avLst>
              <a:gd name="adj" fmla="val 20833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341985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 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60920" y="40965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spc="55" kern="0" dirty="0">
                <a:solidFill>
                  <a:srgbClr val="FF6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COMPARE DRAFTS AND EXPLAIN THE INPUTS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7360920" y="44805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estimates as a decision aid — not a promise.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651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workflow: draft → feature row → saved model → human-readable result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009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3" name="Text 1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cannot see is as important as what it can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presentation states the boundaries of its evidence clearly.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21792" y="1901952"/>
            <a:ext cx="3273552" cy="3337560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2860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96112" y="294436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55" kern="0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TRENDING-ONLY SAMPLE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3438144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has no non-trending comparison group, so we estimate relative performance among videos that already succeeded.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389120" y="1901952"/>
            <a:ext cx="3273552" cy="3337560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2860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663440" y="294436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55" kern="0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HIGH-IMPACT SIGNALS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438144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Thumbnail quality, channel reputation, audience retention and platform ranking signals are not available.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156448" y="1901952"/>
            <a:ext cx="3273552" cy="3337560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111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2860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430768" y="294436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55" kern="0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30768" y="3438144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Pre-publication metadata explains about 42% of log-view variation (37% on later uploads) and 64% of engagement variation (53% on later uploads).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21792" y="5614416"/>
            <a:ext cx="10954512" cy="411480"/>
          </a:xfrm>
          <a:prstGeom prst="roundRect">
            <a:avLst>
              <a:gd name="adj" fmla="val 22222"/>
            </a:avLst>
          </a:prstGeom>
          <a:solidFill>
            <a:srgbClr val="E9EFF2"/>
          </a:solidFill>
          <a:ln w="12700">
            <a:solidFill>
              <a:srgbClr val="E9EF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742432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3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conclusion: the system supports better questions and comparisons, not certainty about a future audience.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9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are part of the result, not an afterthought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-1508760"/>
            <a:ext cx="4572000" cy="457200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27D7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51560"/>
            <a:ext cx="3383280" cy="338328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FF6D55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project can grow from a strong baseline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system is deliberately interpretable; the next version can expand the evidence without sacrificing clarity.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58368" y="1865376"/>
            <a:ext cx="5093208" cy="1152144"/>
          </a:xfrm>
          <a:prstGeom prst="roundRect">
            <a:avLst>
              <a:gd name="adj" fmla="val 7937"/>
            </a:avLst>
          </a:prstGeom>
          <a:solidFill>
            <a:srgbClr val="12283A"/>
          </a:solidFill>
          <a:ln w="8890">
            <a:solidFill>
              <a:srgbClr val="2444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06654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7D7B5"/>
          </a:solidFill>
          <a:ln w="12700">
            <a:solidFill>
              <a:srgbClr val="27D7B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1226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8176" y="204825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title semantics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59536" y="2615184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Readability, sentiment and topic features can add nuance beyond simple length and capitalisation.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6208" y="1865376"/>
            <a:ext cx="5093208" cy="1152144"/>
          </a:xfrm>
          <a:prstGeom prst="roundRect">
            <a:avLst>
              <a:gd name="adj" fmla="val 7937"/>
            </a:avLst>
          </a:prstGeom>
          <a:solidFill>
            <a:srgbClr val="12283A"/>
          </a:solidFill>
          <a:ln w="8890">
            <a:solidFill>
              <a:srgbClr val="2444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206654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11226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6016" y="204825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Thumbnail intelligence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437376" y="2615184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Computer-vision features can capture visual packaging, a major missing signal today.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419856"/>
            <a:ext cx="5093208" cy="1152144"/>
          </a:xfrm>
          <a:prstGeom prst="roundRect">
            <a:avLst>
              <a:gd name="adj" fmla="val 7937"/>
            </a:avLst>
          </a:prstGeom>
          <a:solidFill>
            <a:srgbClr val="12283A"/>
          </a:solidFill>
          <a:ln w="8890">
            <a:solidFill>
              <a:srgbClr val="2444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3621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6D55"/>
          </a:solidFill>
          <a:ln w="12700">
            <a:solidFill>
              <a:srgbClr val="FF6D5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6667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08176" y="360273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outcome dataset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859536" y="4169664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fixed-age performance for trending and non-trending uploads to reduce survivorship bias.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6208" y="3419856"/>
            <a:ext cx="5093208" cy="1152144"/>
          </a:xfrm>
          <a:prstGeom prst="roundRect">
            <a:avLst>
              <a:gd name="adj" fmla="val 7937"/>
            </a:avLst>
          </a:prstGeom>
          <a:solidFill>
            <a:srgbClr val="12283A"/>
          </a:solidFill>
          <a:ln w="8890">
            <a:solidFill>
              <a:srgbClr val="2444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37376" y="3621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D7EFF"/>
          </a:solidFill>
          <a:ln w="12700">
            <a:solidFill>
              <a:srgbClr val="3D7E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6667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86016" y="360273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feedback loop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6437376" y="4169664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predicted versus actual outcomes, then retrain with newer data and real experiments.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651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 is a roadmap, not a claim about the current fitted model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-1508760"/>
            <a:ext cx="4572000" cy="457200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27D7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51560"/>
            <a:ext cx="3383280" cy="3383280"/>
          </a:xfrm>
          <a:prstGeom prst="arc">
            <a:avLst/>
          </a:prstGeom>
          <a:solidFill>
            <a:srgbClr val="091420">
              <a:alpha val="0"/>
            </a:srgbClr>
          </a:solidFill>
          <a:ln w="15240">
            <a:solidFill>
              <a:srgbClr val="FF6D55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3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• THEMATIC ASSESSMENT 4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11109960" y="320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207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1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64208"/>
            <a:ext cx="6537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student-built,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ML system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makes upload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choices discussable.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882128" y="1417320"/>
            <a:ext cx="3182112" cy="3611880"/>
          </a:xfrm>
          <a:prstGeom prst="roundRect">
            <a:avLst>
              <a:gd name="adj" fmla="val 2874"/>
            </a:avLst>
          </a:prstGeom>
          <a:solidFill>
            <a:srgbClr val="12283A"/>
          </a:solidFill>
          <a:ln w="10160">
            <a:solidFill>
              <a:srgbClr val="3253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7032" y="16916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27D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57032" y="1947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16,307 unique videos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57032" y="24414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57032" y="26974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+ calibrated intervals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57032" y="31912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FF6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57032" y="34472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Explain, time, edit, compare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57032" y="39410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3D7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57032" y="41970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youtube-strategy-predictor.onrender.com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58368" y="50109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" y="544982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Questions, model walkthrough, or live demo?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651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692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YouTube Analytics and Content Strategy Prediction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412480" y="6547104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C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India trending-video snapshot • project results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SGT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YouTube Analytics and Content Strategy Prediction — TA4</dc:title>
  <dc:subject>AI-Based YouTube Analytics and Content Strategy Prediction</dc:subject>
  <dc:creator>AI/ML Thematic Assessment Team</dc:creator>
  <cp:lastModifiedBy>AI/ML Thematic Assessment Team</cp:lastModifiedBy>
  <cp:revision>1</cp:revision>
  <dcterms:created xsi:type="dcterms:W3CDTF">2026-10-26T15:06:05Z</dcterms:created>
  <dcterms:modified xsi:type="dcterms:W3CDTF">2026-10-26T15:06:05Z</dcterms:modified>
</cp:coreProperties>
</file>